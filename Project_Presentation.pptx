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1" r:id="rId6"/>
    <p:sldId id="266" r:id="rId7"/>
    <p:sldId id="267" r:id="rId8"/>
    <p:sldId id="268" r:id="rId9"/>
    <p:sldId id="263" r:id="rId10"/>
    <p:sldId id="274" r:id="rId11"/>
    <p:sldId id="269" r:id="rId12"/>
    <p:sldId id="284" r:id="rId13"/>
    <p:sldId id="272" r:id="rId14"/>
    <p:sldId id="273" r:id="rId15"/>
    <p:sldId id="285" r:id="rId16"/>
    <p:sldId id="283" r:id="rId17"/>
    <p:sldId id="277" r:id="rId18"/>
    <p:sldId id="286" r:id="rId19"/>
    <p:sldId id="289" r:id="rId20"/>
    <p:sldId id="287" r:id="rId21"/>
    <p:sldId id="282" r:id="rId22"/>
    <p:sldId id="288" r:id="rId23"/>
    <p:sldId id="265" r:id="rId24"/>
    <p:sldId id="279" r:id="rId25"/>
  </p:sldIdLst>
  <p:sldSz cx="9144000" cy="6858000" type="screen4x3"/>
  <p:notesSz cx="6858000" cy="9144000"/>
  <p:embeddedFontLs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Constantia" panose="02030602050306030303"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p:scale>
          <a:sx n="100" d="100"/>
          <a:sy n="100" d="100"/>
        </p:scale>
        <p:origin x="970" y="-5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notesMaster" Target="notesMasters/notesMaster1.xml" /><Relationship Id="rId39"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8.fntdata" /><Relationship Id="rId42"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font" Target="fonts/font7.fntdata" /><Relationship Id="rId38" Type="http://schemas.openxmlformats.org/officeDocument/2006/relationships/font" Target="fonts/font12.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3.fntdata"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font" Target="fonts/font6.fntdata" /><Relationship Id="rId37" Type="http://schemas.openxmlformats.org/officeDocument/2006/relationships/font" Target="fonts/font11.fntdata" /><Relationship Id="rId40"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font" Target="fonts/font2.fntdata" /><Relationship Id="rId36" Type="http://schemas.openxmlformats.org/officeDocument/2006/relationships/font" Target="fonts/font10.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5.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1.fntdata" /><Relationship Id="rId30" Type="http://schemas.openxmlformats.org/officeDocument/2006/relationships/font" Target="fonts/font4.fntdata" /><Relationship Id="rId35" Type="http://schemas.openxmlformats.org/officeDocument/2006/relationships/font" Target="fonts/font9.fntdata"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 /><Relationship Id="rId2" Type="http://schemas.microsoft.com/office/2011/relationships/chartColorStyle" Target="colors1.xml" /><Relationship Id="rId1" Type="http://schemas.microsoft.com/office/2011/relationships/chartStyle" Target="style1.xml" /></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2.xml" /><Relationship Id="rId1" Type="http://schemas.microsoft.com/office/2011/relationships/chartStyle" Target="style2.xml" /></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 /><Relationship Id="rId2" Type="http://schemas.microsoft.com/office/2011/relationships/chartColorStyle" Target="colors3.xml" /><Relationship Id="rId1" Type="http://schemas.microsoft.com/office/2011/relationships/chartStyle" Target="style3.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solidFill>
                  <a:schemeClr val="tx1"/>
                </a:solidFill>
              </a:rPr>
              <a:t>Load</a:t>
            </a:r>
            <a:r>
              <a:rPr lang="en-US" b="1" baseline="0" dirty="0">
                <a:solidFill>
                  <a:schemeClr val="tx1"/>
                </a:solidFill>
              </a:rPr>
              <a:t> Vs. Time of Day</a:t>
            </a:r>
            <a:endParaRPr lang="en-US" b="1" dirty="0">
              <a:solidFill>
                <a:schemeClr val="tx1"/>
              </a:solidFill>
            </a:endParaRPr>
          </a:p>
        </c:rich>
      </c:tx>
      <c:layout>
        <c:manualLayout>
          <c:xMode val="edge"/>
          <c:yMode val="edge"/>
          <c:x val="0.34047144528229362"/>
          <c:y val="1.6379604426104446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610247284052063"/>
          <c:y val="0.13542223034531631"/>
          <c:w val="0.84766933154161728"/>
          <c:h val="0.61795471927119283"/>
        </c:manualLayout>
      </c:layout>
      <c:barChart>
        <c:barDir val="col"/>
        <c:grouping val="clustered"/>
        <c:varyColors val="0"/>
        <c:ser>
          <c:idx val="0"/>
          <c:order val="0"/>
          <c:tx>
            <c:strRef>
              <c:f>Sheet1!$B$1</c:f>
              <c:strCache>
                <c:ptCount val="1"/>
                <c:pt idx="0">
                  <c:v>Load (kW)</c:v>
                </c:pt>
              </c:strCache>
            </c:strRef>
          </c:tx>
          <c:spPr>
            <a:solidFill>
              <a:schemeClr val="accent1"/>
            </a:solidFill>
            <a:ln>
              <a:noFill/>
            </a:ln>
            <a:effectLst/>
          </c:spPr>
          <c:invertIfNegative val="0"/>
          <c:cat>
            <c:numRef>
              <c:f>Sheet1!$A$2:$A$25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Sheet1!$B$2:$B$25</c:f>
              <c:numCache>
                <c:formatCode>General</c:formatCode>
                <c:ptCount val="24"/>
                <c:pt idx="0">
                  <c:v>3.7</c:v>
                </c:pt>
                <c:pt idx="1">
                  <c:v>3.99</c:v>
                </c:pt>
                <c:pt idx="2">
                  <c:v>3.83</c:v>
                </c:pt>
                <c:pt idx="3">
                  <c:v>4</c:v>
                </c:pt>
                <c:pt idx="4">
                  <c:v>3.77</c:v>
                </c:pt>
                <c:pt idx="5">
                  <c:v>3.8</c:v>
                </c:pt>
                <c:pt idx="6">
                  <c:v>3.9</c:v>
                </c:pt>
                <c:pt idx="7">
                  <c:v>2.1</c:v>
                </c:pt>
                <c:pt idx="8">
                  <c:v>2.23</c:v>
                </c:pt>
                <c:pt idx="9">
                  <c:v>2.68</c:v>
                </c:pt>
                <c:pt idx="10">
                  <c:v>0.23</c:v>
                </c:pt>
                <c:pt idx="11">
                  <c:v>0.26</c:v>
                </c:pt>
                <c:pt idx="12">
                  <c:v>0.22</c:v>
                </c:pt>
                <c:pt idx="13">
                  <c:v>0.23</c:v>
                </c:pt>
                <c:pt idx="14">
                  <c:v>0.71</c:v>
                </c:pt>
                <c:pt idx="15">
                  <c:v>0.76</c:v>
                </c:pt>
                <c:pt idx="16">
                  <c:v>0.28000000000000003</c:v>
                </c:pt>
                <c:pt idx="17">
                  <c:v>0.33</c:v>
                </c:pt>
                <c:pt idx="18">
                  <c:v>0.3</c:v>
                </c:pt>
                <c:pt idx="19">
                  <c:v>2.46</c:v>
                </c:pt>
                <c:pt idx="20">
                  <c:v>0.52</c:v>
                </c:pt>
                <c:pt idx="21">
                  <c:v>0.46</c:v>
                </c:pt>
                <c:pt idx="22">
                  <c:v>1.04</c:v>
                </c:pt>
                <c:pt idx="23">
                  <c:v>0.89</c:v>
                </c:pt>
              </c:numCache>
            </c:numRef>
          </c:val>
          <c:extLst>
            <c:ext xmlns:c16="http://schemas.microsoft.com/office/drawing/2014/chart" uri="{C3380CC4-5D6E-409C-BE32-E72D297353CC}">
              <c16:uniqueId val="{00000000-6653-4D9C-A545-7EBD91AAD522}"/>
            </c:ext>
          </c:extLst>
        </c:ser>
        <c:dLbls>
          <c:showLegendKey val="0"/>
          <c:showVal val="0"/>
          <c:showCatName val="0"/>
          <c:showSerName val="0"/>
          <c:showPercent val="0"/>
          <c:showBubbleSize val="0"/>
        </c:dLbls>
        <c:gapWidth val="219"/>
        <c:overlap val="-27"/>
        <c:axId val="2139619007"/>
        <c:axId val="2139613599"/>
      </c:barChart>
      <c:catAx>
        <c:axId val="2139619007"/>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solidFill>
                      <a:schemeClr val="tx1"/>
                    </a:solidFill>
                  </a:rPr>
                  <a:t>TIME</a:t>
                </a:r>
                <a:r>
                  <a:rPr lang="en-IN" baseline="0" dirty="0">
                    <a:solidFill>
                      <a:schemeClr val="tx1"/>
                    </a:solidFill>
                  </a:rPr>
                  <a:t> OF DAY</a:t>
                </a:r>
                <a:endParaRPr lang="en-IN" dirty="0">
                  <a:solidFill>
                    <a:schemeClr val="tx1"/>
                  </a:solidFill>
                </a:endParaRPr>
              </a:p>
            </c:rich>
          </c:tx>
          <c:layout>
            <c:manualLayout>
              <c:xMode val="edge"/>
              <c:yMode val="edge"/>
              <c:x val="0.43871039246865373"/>
              <c:y val="0.88343556645152688"/>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9613599"/>
        <c:crosses val="autoZero"/>
        <c:auto val="1"/>
        <c:lblAlgn val="ctr"/>
        <c:lblOffset val="100"/>
        <c:noMultiLvlLbl val="0"/>
      </c:catAx>
      <c:valAx>
        <c:axId val="21396135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solidFill>
                      <a:schemeClr val="tx1"/>
                    </a:solidFill>
                  </a:rPr>
                  <a:t>LOAD</a:t>
                </a:r>
                <a:r>
                  <a:rPr lang="en-IN" baseline="0" dirty="0">
                    <a:solidFill>
                      <a:schemeClr val="tx1"/>
                    </a:solidFill>
                  </a:rPr>
                  <a:t> (KW)</a:t>
                </a:r>
                <a:endParaRPr lang="en-IN" dirty="0">
                  <a:solidFill>
                    <a:schemeClr val="tx1"/>
                  </a:solidFill>
                </a:endParaRPr>
              </a:p>
            </c:rich>
          </c:tx>
          <c:layout>
            <c:manualLayout>
              <c:xMode val="edge"/>
              <c:yMode val="edge"/>
              <c:x val="2.8552296468473213E-2"/>
              <c:y val="0.2996684511599206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96190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Operating Cost(Rs.)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Grid</c:v>
                </c:pt>
                <c:pt idx="1">
                  <c:v>G+PV</c:v>
                </c:pt>
                <c:pt idx="2">
                  <c:v>G+PV+W</c:v>
                </c:pt>
                <c:pt idx="3">
                  <c:v>G+PV+W+FC</c:v>
                </c:pt>
                <c:pt idx="4">
                  <c:v>G+PV+W+FC+B</c:v>
                </c:pt>
              </c:strCache>
            </c:strRef>
          </c:cat>
          <c:val>
            <c:numRef>
              <c:f>Sheet1!$B$2:$B$6</c:f>
              <c:numCache>
                <c:formatCode>#,##0</c:formatCode>
                <c:ptCount val="5"/>
                <c:pt idx="0">
                  <c:v>199172</c:v>
                </c:pt>
                <c:pt idx="1">
                  <c:v>178621</c:v>
                </c:pt>
                <c:pt idx="2">
                  <c:v>144901</c:v>
                </c:pt>
                <c:pt idx="3">
                  <c:v>145115</c:v>
                </c:pt>
                <c:pt idx="4">
                  <c:v>150200</c:v>
                </c:pt>
              </c:numCache>
            </c:numRef>
          </c:val>
          <c:extLst>
            <c:ext xmlns:c16="http://schemas.microsoft.com/office/drawing/2014/chart" uri="{C3380CC4-5D6E-409C-BE32-E72D297353CC}">
              <c16:uniqueId val="{00000000-970F-41DB-8FF9-17E4BEBA1208}"/>
            </c:ext>
          </c:extLst>
        </c:ser>
        <c:dLbls>
          <c:dLblPos val="outEnd"/>
          <c:showLegendKey val="0"/>
          <c:showVal val="1"/>
          <c:showCatName val="0"/>
          <c:showSerName val="0"/>
          <c:showPercent val="0"/>
          <c:showBubbleSize val="0"/>
        </c:dLbls>
        <c:gapWidth val="219"/>
        <c:overlap val="-27"/>
        <c:axId val="1893213343"/>
        <c:axId val="1893209503"/>
      </c:barChart>
      <c:catAx>
        <c:axId val="189321334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Combinations</a:t>
                </a:r>
              </a:p>
            </c:rich>
          </c:tx>
          <c:layout>
            <c:manualLayout>
              <c:xMode val="edge"/>
              <c:yMode val="edge"/>
              <c:x val="0.36450747196758015"/>
              <c:y val="0.79680025404602828"/>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93209503"/>
        <c:crosses val="autoZero"/>
        <c:auto val="1"/>
        <c:lblAlgn val="ctr"/>
        <c:lblOffset val="100"/>
        <c:noMultiLvlLbl val="0"/>
      </c:catAx>
      <c:valAx>
        <c:axId val="1893209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Operating</a:t>
                </a:r>
                <a:r>
                  <a:rPr lang="en-IN" baseline="0" dirty="0"/>
                  <a:t> Cost(Rs.)</a:t>
                </a:r>
                <a:endParaRPr lang="en-IN" dirty="0"/>
              </a:p>
            </c:rich>
          </c:tx>
          <c:layout>
            <c:manualLayout>
              <c:xMode val="edge"/>
              <c:yMode val="edge"/>
              <c:x val="1.8711420849321706E-2"/>
              <c:y val="0.24969780738544625"/>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93213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COE(Rs.)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Grid</c:v>
                </c:pt>
                <c:pt idx="1">
                  <c:v>G+PV</c:v>
                </c:pt>
                <c:pt idx="2">
                  <c:v>G+PV+W</c:v>
                </c:pt>
                <c:pt idx="3">
                  <c:v>G+PV+W+FC</c:v>
                </c:pt>
                <c:pt idx="4">
                  <c:v>G+PV+W+FC+B</c:v>
                </c:pt>
              </c:strCache>
            </c:strRef>
          </c:cat>
          <c:val>
            <c:numRef>
              <c:f>Sheet1!$B$2:$B$6</c:f>
              <c:numCache>
                <c:formatCode>General</c:formatCode>
                <c:ptCount val="5"/>
                <c:pt idx="0">
                  <c:v>11.86</c:v>
                </c:pt>
                <c:pt idx="1">
                  <c:v>11</c:v>
                </c:pt>
                <c:pt idx="2">
                  <c:v>9.2200000000000006</c:v>
                </c:pt>
                <c:pt idx="3">
                  <c:v>10.86</c:v>
                </c:pt>
                <c:pt idx="4">
                  <c:v>11.6</c:v>
                </c:pt>
              </c:numCache>
            </c:numRef>
          </c:val>
          <c:extLst>
            <c:ext xmlns:c16="http://schemas.microsoft.com/office/drawing/2014/chart" uri="{C3380CC4-5D6E-409C-BE32-E72D297353CC}">
              <c16:uniqueId val="{00000000-794C-4A4C-AF40-0F80DD5D4325}"/>
            </c:ext>
          </c:extLst>
        </c:ser>
        <c:dLbls>
          <c:dLblPos val="outEnd"/>
          <c:showLegendKey val="0"/>
          <c:showVal val="1"/>
          <c:showCatName val="0"/>
          <c:showSerName val="0"/>
          <c:showPercent val="0"/>
          <c:showBubbleSize val="0"/>
        </c:dLbls>
        <c:gapWidth val="219"/>
        <c:overlap val="-27"/>
        <c:axId val="1893213343"/>
        <c:axId val="1893209503"/>
      </c:barChart>
      <c:catAx>
        <c:axId val="189321334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Combinations</a:t>
                </a:r>
              </a:p>
            </c:rich>
          </c:tx>
          <c:layout>
            <c:manualLayout>
              <c:xMode val="edge"/>
              <c:yMode val="edge"/>
              <c:x val="0.27067099646656961"/>
              <c:y val="0.79680025404602828"/>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93209503"/>
        <c:crosses val="autoZero"/>
        <c:auto val="1"/>
        <c:lblAlgn val="ctr"/>
        <c:lblOffset val="100"/>
        <c:noMultiLvlLbl val="0"/>
      </c:catAx>
      <c:valAx>
        <c:axId val="1893209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dirty="0"/>
                  <a:t>COE(Rs.)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93213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1T03:59:39.152"/>
    </inkml:context>
    <inkml:brush xml:id="br0">
      <inkml:brushProperty name="width" value="0.05" units="cm"/>
      <inkml:brushProperty name="height" value="0.05" units="cm"/>
      <inkml:brushProperty name="color" value="#FFFFFF"/>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9360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23921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21" name="Google Shape;21;p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33" name="Google Shape;33;p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7" name="Google Shape;37;p5"/>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8" name="Google Shape;38;p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40" name="Google Shape;40;p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4" name="Google Shape;44;p6"/>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5" name="Google Shape;45;p6"/>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6" name="Google Shape;46;p6"/>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7" name="Google Shape;47;p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49" name="Google Shape;49;p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54" name="Google Shape;54;p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58" name="Google Shape;58;p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2" name="Google Shape;62;p9"/>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65" name="Google Shape;65;p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68" name="Google Shape;68;p10"/>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69" name="Google Shape;69;p10"/>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73" name="Google Shape;73;p10"/>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4" name="Google Shape;74;p10"/>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75" name="Google Shape;75;p10"/>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76" name="Google Shape;76;p10"/>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1"/>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0" name="Google Shape;80;p1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82" name="Google Shape;82;p1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2"/>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1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PES's MCOE Department of Electrical Engineering (AY : 2022-23)</a:t>
            </a:r>
            <a:endParaRPr/>
          </a:p>
        </p:txBody>
      </p:sp>
      <p:sp>
        <p:nvSpPr>
          <p:cNvPr id="88" name="Google Shape;88;p1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image" Target="../media/image1.pn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alphaModFix/>
          </a:blip>
          <a:tile tx="0" ty="0" sx="65000" sy="65000" flip="none" algn="tl"/>
        </a:blipFill>
        <a:effectLst/>
      </p:bgPr>
    </p:bg>
    <p:spTree>
      <p:nvGrpSpPr>
        <p:cNvPr id="1" name="Shape 5"/>
        <p:cNvGrpSpPr/>
        <p:nvPr/>
      </p:nvGrpSpPr>
      <p:grpSpPr>
        <a:xfrm>
          <a:off x="0" y="0"/>
          <a:ext cx="0" cy="0"/>
          <a:chOff x="0" y="0"/>
          <a:chExt cx="0" cy="0"/>
        </a:xfrm>
      </p:grpSpPr>
      <p:sp>
        <p:nvSpPr>
          <p:cNvPr id="6" name="Google Shape;6;p1"/>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Constantia"/>
              <a:ea typeface="Constantia"/>
              <a:cs typeface="Constantia"/>
              <a:sym typeface="Constantia"/>
            </a:endParaRPr>
          </a:p>
        </p:txBody>
      </p:sp>
      <p:sp>
        <p:nvSpPr>
          <p:cNvPr id="7" name="Google Shape;7;p1"/>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Constantia"/>
              <a:ea typeface="Constantia"/>
              <a:cs typeface="Constantia"/>
              <a:sym typeface="Constantia"/>
            </a:endParaRPr>
          </a:p>
        </p:txBody>
      </p:sp>
      <p:sp>
        <p:nvSpPr>
          <p:cNvPr id="8" name="Google Shape;8;p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10" name="Google Shape;10;p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11" name="Google Shape;11;p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r>
              <a:rPr lang="en-US"/>
              <a:t>PES's MCOE Department of Electrical Engineering (AY : 2022-23)</a:t>
            </a:r>
            <a:endParaRPr/>
          </a:p>
        </p:txBody>
      </p:sp>
      <p:sp>
        <p:nvSpPr>
          <p:cNvPr id="12" name="Google Shape;12;p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035C75"/>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035C75"/>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035C75"/>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035C75"/>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035C75"/>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035C75"/>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035C75"/>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035C75"/>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13" name="Google Shape;13;p1"/>
          <p:cNvGrpSpPr/>
          <p:nvPr/>
        </p:nvGrpSpPr>
        <p:grpSpPr>
          <a:xfrm>
            <a:off x="-29294" y="-16113"/>
            <a:ext cx="9198255" cy="1086266"/>
            <a:chOff x="-29322" y="-1971"/>
            <a:chExt cx="9198255" cy="1086266"/>
          </a:xfrm>
        </p:grpSpPr>
        <p:sp>
          <p:nvSpPr>
            <p:cNvPr id="14" name="Google Shape;14;p1"/>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15" name="Google Shape;15;p1"/>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5.xml" /></Relationships>
</file>

<file path=ppt/slides/_rels/slide1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chart" Target="../charts/chart1.xml" /><Relationship Id="rId1" Type="http://schemas.openxmlformats.org/officeDocument/2006/relationships/slideLayout" Target="../slideLayouts/slideLayout5.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5.xml" /></Relationships>
</file>

<file path=ppt/slides/_rels/slide1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16.xml.rels><?xml version="1.0" encoding="UTF-8" standalone="yes"?>
<Relationships xmlns="http://schemas.openxmlformats.org/package/2006/relationships"><Relationship Id="rId3" Type="http://schemas.openxmlformats.org/officeDocument/2006/relationships/chart" Target="../charts/chart3.xml" /><Relationship Id="rId2" Type="http://schemas.openxmlformats.org/officeDocument/2006/relationships/chart" Target="../charts/chart2.xml" /><Relationship Id="rId1" Type="http://schemas.openxmlformats.org/officeDocument/2006/relationships/slideLayout" Target="../slideLayouts/slideLayout6.xml" /></Relationships>
</file>

<file path=ppt/slides/_rels/slide17.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6.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6.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1.xml.rels><?xml version="1.0" encoding="UTF-8" standalone="yes"?>
<Relationships xmlns="http://schemas.openxmlformats.org/package/2006/relationships"><Relationship Id="rId8" Type="http://schemas.openxmlformats.org/officeDocument/2006/relationships/image" Target="../media/image14.png" /><Relationship Id="rId7" Type="http://schemas.openxmlformats.org/officeDocument/2006/relationships/image" Target="../media/image13.png" /><Relationship Id="rId2" Type="http://schemas.openxmlformats.org/officeDocument/2006/relationships/customXml" Target="../ink/ink1.xml" /><Relationship Id="rId1" Type="http://schemas.openxmlformats.org/officeDocument/2006/relationships/slideLayout" Target="../slideLayouts/slideLayout1.xml" /><Relationship Id="rId6" Type="http://schemas.openxmlformats.org/officeDocument/2006/relationships/image" Target="../media/image12.png" /><Relationship Id="rId5" Type="http://schemas.openxmlformats.org/officeDocument/2006/relationships/image" Target="../media/image16.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15.jpg" /><Relationship Id="rId2" Type="http://schemas.openxmlformats.org/officeDocument/2006/relationships/notesSlide" Target="../notesSlides/notesSlide6.xml"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3"/>
          <p:cNvSpPr/>
          <p:nvPr/>
        </p:nvSpPr>
        <p:spPr>
          <a:xfrm>
            <a:off x="2286000" y="792032"/>
            <a:ext cx="6019800" cy="8309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latin typeface="Times New Roman" panose="02020603050405020304" pitchFamily="18" charset="0"/>
                <a:cs typeface="Times New Roman" panose="02020603050405020304" pitchFamily="18" charset="0"/>
                <a:sym typeface="Arial"/>
              </a:rPr>
              <a:t>	</a:t>
            </a:r>
            <a:r>
              <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rPr>
              <a:t>PES’s Modern College of Engineering </a:t>
            </a:r>
            <a:br>
              <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rPr>
              <a:t>		Shivajinagar, Pune -5</a:t>
            </a:r>
            <a:endParaRPr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rPr>
              <a:t>	Department of Electrical Engineering </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4" name="Google Shape;94;p13"/>
          <p:cNvSpPr/>
          <p:nvPr/>
        </p:nvSpPr>
        <p:spPr>
          <a:xfrm>
            <a:off x="609600" y="1905000"/>
            <a:ext cx="7924800" cy="47518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Year: 2022-2023</a:t>
            </a:r>
            <a:endParaRPr lang="en-IN"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lang="en-IN"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IN"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Topic: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Economic Management of Alternate Energy Sources For Electric Power Generation</a:t>
            </a:r>
            <a:endParaRPr sz="2000" b="1"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Name of Student: 		</a:t>
            </a:r>
            <a:endParaRPr lang="en-US" sz="2000" dirty="0">
              <a:latin typeface="Times New Roman" panose="02020603050405020304" pitchFamily="18" charset="0"/>
              <a:ea typeface="Times New Roman"/>
              <a:cs typeface="Times New Roman" panose="02020603050405020304" pitchFamily="18" charset="0"/>
            </a:endParaRPr>
          </a:p>
          <a:p>
            <a:pPr marL="0" marR="0" lvl="0" indent="0" algn="l" rtl="0">
              <a:spcBef>
                <a:spcPts val="0"/>
              </a:spcBef>
              <a:spcAft>
                <a:spcPts val="0"/>
              </a:spcAft>
              <a:buNone/>
            </a:pPr>
            <a:endParaRPr sz="20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1) Gaurav Lokhande (46046)</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2) Varad Chavare (46010)</a:t>
            </a:r>
          </a:p>
          <a:p>
            <a:pPr marL="0" marR="0" lvl="0" indent="0" algn="l" rtl="0">
              <a:spcBef>
                <a:spcPts val="0"/>
              </a:spcBef>
              <a:spcAft>
                <a:spcPts val="0"/>
              </a:spcAft>
              <a:buNone/>
            </a:pPr>
            <a:r>
              <a:rPr lang="en-US" sz="2000" dirty="0">
                <a:solidFill>
                  <a:schemeClr val="dk1"/>
                </a:solidFill>
                <a:latin typeface="Times New Roman" panose="02020603050405020304" pitchFamily="18" charset="0"/>
                <a:cs typeface="Times New Roman" panose="02020603050405020304" pitchFamily="18" charset="0"/>
                <a:sym typeface="Times New Roman"/>
              </a:rPr>
              <a:t>3) Akshay Malangner (46048)</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4) Nandkishor Chavarekar (46011)</a:t>
            </a:r>
          </a:p>
          <a:p>
            <a:pPr marL="0" marR="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p>
            <a:r>
              <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Name of Guide: Prof. Dr. Mrs. V.S. Jape       </a:t>
            </a:r>
          </a:p>
          <a:p>
            <a:pPr marL="0" marR="0" lvl="0" indent="0" algn="l" rtl="0">
              <a:spcBef>
                <a:spcPts val="0"/>
              </a:spcBef>
              <a:spcAft>
                <a:spcPts val="0"/>
              </a:spcAft>
              <a:buNone/>
            </a:pP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1800" dirty="0">
              <a:solidFill>
                <a:schemeClr val="dk1"/>
              </a:solidFill>
              <a:latin typeface="Times New Roman" panose="02020603050405020304" pitchFamily="18" charset="0"/>
              <a:cs typeface="Times New Roman" panose="02020603050405020304" pitchFamily="18" charset="0"/>
              <a:sym typeface="Arial"/>
            </a:endParaRPr>
          </a:p>
        </p:txBody>
      </p:sp>
      <p:pic>
        <p:nvPicPr>
          <p:cNvPr id="95" name="Google Shape;95;p13"/>
          <p:cNvPicPr preferRelativeResize="0"/>
          <p:nvPr/>
        </p:nvPicPr>
        <p:blipFill rotWithShape="1">
          <a:blip r:embed="rId3">
            <a:alphaModFix/>
          </a:blip>
          <a:srcRect/>
          <a:stretch/>
        </p:blipFill>
        <p:spPr>
          <a:xfrm>
            <a:off x="1219200" y="696674"/>
            <a:ext cx="810895" cy="1021715"/>
          </a:xfrm>
          <a:prstGeom prst="rect">
            <a:avLst/>
          </a:prstGeom>
          <a:noFill/>
          <a:ln>
            <a:noFill/>
          </a:ln>
        </p:spPr>
      </p:pic>
      <p:sp>
        <p:nvSpPr>
          <p:cNvPr id="2" name="Footer Placeholder 1">
            <a:extLst>
              <a:ext uri="{FF2B5EF4-FFF2-40B4-BE49-F238E27FC236}">
                <a16:creationId xmlns:a16="http://schemas.microsoft.com/office/drawing/2014/main" id="{6A931858-DC73-E956-B9D0-7029585A0B54}"/>
              </a:ext>
            </a:extLst>
          </p:cNvPr>
          <p:cNvSpPr>
            <a:spLocks noGrp="1"/>
          </p:cNvSpPr>
          <p:nvPr>
            <p:ph type="ftr" idx="11"/>
          </p:nvPr>
        </p:nvSpPr>
        <p:spPr>
          <a:xfrm>
            <a:off x="2666999" y="6356350"/>
            <a:ext cx="4467225" cy="365125"/>
          </a:xfrm>
        </p:spPr>
        <p:txBody>
          <a:bodyPr/>
          <a:lstStyle/>
          <a:p>
            <a:r>
              <a:rPr lang="en-US" dirty="0"/>
              <a:t>PES's MCOE Department of Electrical Engineering (AY : 2022-23)</a:t>
            </a:r>
          </a:p>
        </p:txBody>
      </p:sp>
      <p:sp>
        <p:nvSpPr>
          <p:cNvPr id="3" name="Slide Number Placeholder 2">
            <a:extLst>
              <a:ext uri="{FF2B5EF4-FFF2-40B4-BE49-F238E27FC236}">
                <a16:creationId xmlns:a16="http://schemas.microsoft.com/office/drawing/2014/main" id="{23166D4C-4021-2B20-A4F1-88F32F4C6C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ctr" rtl="0">
              <a:spcBef>
                <a:spcPts val="0"/>
              </a:spcBef>
              <a:spcAft>
                <a:spcPts val="0"/>
              </a:spcAft>
              <a:buClr>
                <a:schemeClr val="dk2"/>
              </a:buClr>
              <a:buSzPts val="5000"/>
              <a:buFont typeface="Calibri"/>
              <a:buNone/>
            </a:pPr>
            <a:r>
              <a:rPr lang="en-US" dirty="0">
                <a:latin typeface="Times New Roman" panose="02020603050405020304" pitchFamily="18" charset="0"/>
                <a:cs typeface="Times New Roman" panose="02020603050405020304" pitchFamily="18" charset="0"/>
              </a:rPr>
              <a:t>Index</a:t>
            </a:r>
            <a:endParaRPr dirty="0">
              <a:latin typeface="Times New Roman" panose="02020603050405020304" pitchFamily="18" charset="0"/>
              <a:cs typeface="Times New Roman" panose="02020603050405020304" pitchFamily="18" charset="0"/>
            </a:endParaRPr>
          </a:p>
        </p:txBody>
      </p:sp>
      <p:sp>
        <p:nvSpPr>
          <p:cNvPr id="101" name="Google Shape;101;p1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lvl="0" indent="-457200" algn="l" rtl="0">
              <a:spcBef>
                <a:spcPts val="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Title</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Aim &amp; Objectives</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Literature survey and Literature review </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Block diagram</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Results</a:t>
            </a:r>
            <a:endParaRPr dirty="0">
              <a:latin typeface="Times New Roman" panose="02020603050405020304" pitchFamily="18" charset="0"/>
              <a:cs typeface="Times New Roman" panose="02020603050405020304" pitchFamily="18" charset="0"/>
            </a:endParaRPr>
          </a:p>
          <a:p>
            <a:pPr lvl="0" indent="-457200" algn="l" rtl="0">
              <a:spcBef>
                <a:spcPts val="520"/>
              </a:spcBef>
              <a:spcAft>
                <a:spcPts val="0"/>
              </a:spcAft>
              <a:buSzPts val="247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Reference</a:t>
            </a:r>
            <a:endParaRPr dirty="0">
              <a:latin typeface="Times New Roman" panose="02020603050405020304" pitchFamily="18" charset="0"/>
              <a:cs typeface="Times New Roman" panose="02020603050405020304" pitchFamily="18" charset="0"/>
            </a:endParaRPr>
          </a:p>
          <a:p>
            <a:pPr marL="274320" lvl="0" indent="-117475" algn="l" rtl="0">
              <a:spcBef>
                <a:spcPts val="520"/>
              </a:spcBef>
              <a:spcAft>
                <a:spcPts val="0"/>
              </a:spcAft>
              <a:buSzPts val="2470"/>
              <a:buNone/>
            </a:pPr>
            <a:endParaRPr dirty="0"/>
          </a:p>
        </p:txBody>
      </p:sp>
      <p:sp>
        <p:nvSpPr>
          <p:cNvPr id="2" name="Footer Placeholder 1">
            <a:extLst>
              <a:ext uri="{FF2B5EF4-FFF2-40B4-BE49-F238E27FC236}">
                <a16:creationId xmlns:a16="http://schemas.microsoft.com/office/drawing/2014/main" id="{5F4868C3-2F5B-3489-D1B5-FC625EC3D29E}"/>
              </a:ext>
            </a:extLst>
          </p:cNvPr>
          <p:cNvSpPr>
            <a:spLocks noGrp="1"/>
          </p:cNvSpPr>
          <p:nvPr>
            <p:ph type="ftr" idx="11"/>
          </p:nvPr>
        </p:nvSpPr>
        <p:spPr>
          <a:xfrm>
            <a:off x="2667000" y="6356350"/>
            <a:ext cx="4495800" cy="365125"/>
          </a:xfrm>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47DFEA55-1A7F-437B-2764-6AC816D663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ctr" rtl="0">
              <a:spcBef>
                <a:spcPts val="0"/>
              </a:spcBef>
              <a:spcAft>
                <a:spcPts val="0"/>
              </a:spcAft>
              <a:buClr>
                <a:schemeClr val="dk2"/>
              </a:buClr>
              <a:buSzPts val="5000"/>
              <a:buFont typeface="Calibri"/>
              <a:buNone/>
            </a:pPr>
            <a:r>
              <a:rPr lang="en-IN" dirty="0">
                <a:latin typeface="Times New Roman" panose="02020603050405020304" pitchFamily="18" charset="0"/>
                <a:cs typeface="Times New Roman" panose="02020603050405020304" pitchFamily="18" charset="0"/>
              </a:rPr>
              <a:t>Title </a:t>
            </a:r>
            <a:endParaRPr dirty="0">
              <a:latin typeface="Times New Roman" panose="02020603050405020304" pitchFamily="18" charset="0"/>
              <a:cs typeface="Times New Roman" panose="02020603050405020304" pitchFamily="18" charset="0"/>
            </a:endParaRPr>
          </a:p>
        </p:txBody>
      </p:sp>
      <p:sp>
        <p:nvSpPr>
          <p:cNvPr id="107" name="Google Shape;107;p15"/>
          <p:cNvSpPr txBox="1">
            <a:spLocks noGrp="1"/>
          </p:cNvSpPr>
          <p:nvPr>
            <p:ph type="body" idx="1"/>
          </p:nvPr>
        </p:nvSpPr>
        <p:spPr>
          <a:xfrm>
            <a:off x="457200" y="2161598"/>
            <a:ext cx="8229600" cy="1819656"/>
          </a:xfrm>
          <a:prstGeom prst="rect">
            <a:avLst/>
          </a:prstGeom>
          <a:noFill/>
          <a:ln>
            <a:noFill/>
          </a:ln>
        </p:spPr>
        <p:txBody>
          <a:bodyPr spcFirstLastPara="1" wrap="square" lIns="91425" tIns="45700" rIns="91425" bIns="45700" anchor="t" anchorCtr="0">
            <a:normAutofit/>
          </a:bodyPr>
          <a:lstStyle/>
          <a:p>
            <a:pPr marL="274320" indent="-117475" algn="ctr">
              <a:spcBef>
                <a:spcPts val="0"/>
              </a:spcBef>
              <a:buSzPts val="2470"/>
              <a:buNone/>
            </a:pPr>
            <a:r>
              <a:rPr lang="en-US" sz="3600" b="1" dirty="0">
                <a:solidFill>
                  <a:srgbClr val="7030A0"/>
                </a:solidFill>
                <a:latin typeface="Times New Roman" panose="02020603050405020304" pitchFamily="18" charset="0"/>
                <a:ea typeface="Times New Roman"/>
                <a:cs typeface="Times New Roman" panose="02020603050405020304" pitchFamily="18" charset="0"/>
                <a:sym typeface="Times New Roman"/>
              </a:rPr>
              <a:t>Economic Management of Alternate Energy Sources For Electric Power Generation</a:t>
            </a:r>
          </a:p>
          <a:p>
            <a:pPr marL="274320" lvl="0" indent="-117475" algn="ctr" rtl="0">
              <a:spcBef>
                <a:spcPts val="0"/>
              </a:spcBef>
              <a:spcAft>
                <a:spcPts val="0"/>
              </a:spcAft>
              <a:buSzPts val="2470"/>
              <a:buNone/>
            </a:pPr>
            <a:endParaRPr dirty="0"/>
          </a:p>
        </p:txBody>
      </p:sp>
      <p:sp>
        <p:nvSpPr>
          <p:cNvPr id="2" name="Footer Placeholder 1">
            <a:extLst>
              <a:ext uri="{FF2B5EF4-FFF2-40B4-BE49-F238E27FC236}">
                <a16:creationId xmlns:a16="http://schemas.microsoft.com/office/drawing/2014/main" id="{57E19541-8BDD-3C69-A6ED-C089C6CCC906}"/>
              </a:ext>
            </a:extLst>
          </p:cNvPr>
          <p:cNvSpPr>
            <a:spLocks noGrp="1"/>
          </p:cNvSpPr>
          <p:nvPr>
            <p:ph type="ftr" idx="11"/>
          </p:nvPr>
        </p:nvSpPr>
        <p:spPr>
          <a:xfrm>
            <a:off x="2667000" y="6356350"/>
            <a:ext cx="4552950" cy="365125"/>
          </a:xfrm>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9DAE7CB1-4071-6B50-F283-01DCFEE7BB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C8E1-40C0-D87F-75B2-41C09001CE9A}"/>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 of </a:t>
            </a:r>
            <a:r>
              <a:rPr lang="en-IN" dirty="0">
                <a:solidFill>
                  <a:schemeClr val="tx2">
                    <a:lumMod val="25000"/>
                  </a:schemeClr>
                </a:solidFill>
                <a:latin typeface="Times New Roman" panose="02020603050405020304" pitchFamily="18" charset="0"/>
                <a:cs typeface="Times New Roman" panose="02020603050405020304" pitchFamily="18" charset="0"/>
              </a:rPr>
              <a:t>Project</a:t>
            </a:r>
          </a:p>
        </p:txBody>
      </p:sp>
      <p:sp>
        <p:nvSpPr>
          <p:cNvPr id="3" name="Text Placeholder 2">
            <a:extLst>
              <a:ext uri="{FF2B5EF4-FFF2-40B4-BE49-F238E27FC236}">
                <a16:creationId xmlns:a16="http://schemas.microsoft.com/office/drawing/2014/main" id="{20E43AEB-868B-CE94-2E68-1E5517A0D863}"/>
              </a:ext>
            </a:extLst>
          </p:cNvPr>
          <p:cNvSpPr>
            <a:spLocks noGrp="1"/>
          </p:cNvSpPr>
          <p:nvPr>
            <p:ph type="body" idx="1"/>
          </p:nvPr>
        </p:nvSpPr>
        <p:spPr/>
        <p:txBody>
          <a:bodyPr>
            <a:norm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Economic analysis of the proposed system using HOMER software.</a:t>
            </a: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check the feasibility (Technical and economical) of the proposed hybrid system before its installation.</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Perform simulation studies of different combinations.</a:t>
            </a: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analyze the proposed system's Net Present Cost (NPC), Cost of Energy (COE), and Operating Cost.</a:t>
            </a:r>
            <a:endParaRPr lang="en-IN" sz="2400" dirty="0">
              <a:latin typeface="Times New Roman" panose="02020603050405020304" pitchFamily="18" charset="0"/>
              <a:cs typeface="Times New Roman" panose="02020603050405020304" pitchFamily="18" charset="0"/>
            </a:endParaRPr>
          </a:p>
          <a:p>
            <a:pPr marL="120015" indent="0">
              <a:buNone/>
            </a:pPr>
            <a:endParaRPr lang="en-IN" dirty="0"/>
          </a:p>
        </p:txBody>
      </p:sp>
      <p:sp>
        <p:nvSpPr>
          <p:cNvPr id="4" name="Footer Placeholder 3">
            <a:extLst>
              <a:ext uri="{FF2B5EF4-FFF2-40B4-BE49-F238E27FC236}">
                <a16:creationId xmlns:a16="http://schemas.microsoft.com/office/drawing/2014/main" id="{3CF4C676-5A45-CCEA-46D5-798CC7F823DC}"/>
              </a:ext>
            </a:extLst>
          </p:cNvPr>
          <p:cNvSpPr>
            <a:spLocks noGrp="1"/>
          </p:cNvSpPr>
          <p:nvPr>
            <p:ph type="ftr" idx="11"/>
          </p:nvPr>
        </p:nvSpPr>
        <p:spPr>
          <a:xfrm>
            <a:off x="2667000" y="6356350"/>
            <a:ext cx="4457700" cy="365125"/>
          </a:xfrm>
        </p:spPr>
        <p:txBody>
          <a:bodyPr/>
          <a:lstStyle/>
          <a:p>
            <a:r>
              <a:rPr lang="en-US" dirty="0"/>
              <a:t>PES's MCOE Department of Electrical Engineering (AY : 2022-23)</a:t>
            </a:r>
          </a:p>
        </p:txBody>
      </p:sp>
      <p:sp>
        <p:nvSpPr>
          <p:cNvPr id="5" name="Slide Number Placeholder 4">
            <a:extLst>
              <a:ext uri="{FF2B5EF4-FFF2-40B4-BE49-F238E27FC236}">
                <a16:creationId xmlns:a16="http://schemas.microsoft.com/office/drawing/2014/main" id="{08AED473-4312-BD1B-9C0E-7D90455C0B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1482186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631F92-2923-6A10-2CF9-A7DDC685898C}"/>
              </a:ext>
            </a:extLst>
          </p:cNvPr>
          <p:cNvSpPr txBox="1"/>
          <p:nvPr/>
        </p:nvSpPr>
        <p:spPr>
          <a:xfrm>
            <a:off x="197962" y="783618"/>
            <a:ext cx="7400041" cy="1200329"/>
          </a:xfrm>
          <a:prstGeom prst="rect">
            <a:avLst/>
          </a:prstGeom>
          <a:noFill/>
        </p:spPr>
        <p:txBody>
          <a:bodyPr wrap="square" rtlCol="0">
            <a:spAutoFit/>
          </a:bodyPr>
          <a:lstStyle/>
          <a:p>
            <a:pPr algn="ctr"/>
            <a:r>
              <a:rPr lang="en-US" sz="3600" dirty="0">
                <a:solidFill>
                  <a:schemeClr val="tx2">
                    <a:lumMod val="25000"/>
                  </a:schemeClr>
                </a:solidFill>
                <a:latin typeface="Times New Roman" panose="02020603050405020304" pitchFamily="18" charset="0"/>
                <a:ea typeface="Constantia"/>
                <a:cs typeface="Times New Roman" panose="02020603050405020304" pitchFamily="18" charset="0"/>
                <a:sym typeface="Constantia"/>
              </a:rPr>
              <a:t>Literature Survey And Review </a:t>
            </a:r>
            <a:endParaRPr lang="en-IN" sz="3600" dirty="0">
              <a:solidFill>
                <a:schemeClr val="tx2">
                  <a:lumMod val="25000"/>
                </a:schemeClr>
              </a:solidFill>
              <a:latin typeface="Times New Roman" panose="02020603050405020304" pitchFamily="18" charset="0"/>
              <a:cs typeface="Times New Roman" panose="02020603050405020304" pitchFamily="18" charset="0"/>
            </a:endParaRPr>
          </a:p>
          <a:p>
            <a:endParaRPr lang="en-IN" sz="3600" dirty="0"/>
          </a:p>
        </p:txBody>
      </p:sp>
      <p:sp>
        <p:nvSpPr>
          <p:cNvPr id="4" name="TextBox 3">
            <a:extLst>
              <a:ext uri="{FF2B5EF4-FFF2-40B4-BE49-F238E27FC236}">
                <a16:creationId xmlns:a16="http://schemas.microsoft.com/office/drawing/2014/main" id="{0A30F555-950C-837B-E332-7C1656D961FC}"/>
              </a:ext>
            </a:extLst>
          </p:cNvPr>
          <p:cNvSpPr txBox="1"/>
          <p:nvPr/>
        </p:nvSpPr>
        <p:spPr>
          <a:xfrm>
            <a:off x="565608" y="1990495"/>
            <a:ext cx="7946796" cy="526462"/>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986D212B-F735-3F07-03DA-61AD3AEB88F8}"/>
              </a:ext>
            </a:extLst>
          </p:cNvPr>
          <p:cNvSpPr txBox="1"/>
          <p:nvPr/>
        </p:nvSpPr>
        <p:spPr>
          <a:xfrm>
            <a:off x="263950" y="1451505"/>
            <a:ext cx="8550112" cy="5016758"/>
          </a:xfrm>
          <a:prstGeom prst="rect">
            <a:avLst/>
          </a:prstGeom>
          <a:noFill/>
        </p:spPr>
        <p:txBody>
          <a:bodyPr wrap="square" rtlCol="0">
            <a:spAutoFit/>
          </a:bodyPr>
          <a:lstStyle/>
          <a:p>
            <a:pPr algn="l"/>
            <a:r>
              <a:rPr lang="en-IN" sz="1600" b="1" dirty="0">
                <a:latin typeface="Times New Roman" panose="02020603050405020304" pitchFamily="18" charset="0"/>
                <a:cs typeface="Times New Roman" panose="02020603050405020304" pitchFamily="18" charset="0"/>
              </a:rPr>
              <a:t>1) </a:t>
            </a:r>
            <a:r>
              <a:rPr lang="en-IN" sz="1600" b="1" u="none" strike="noStrike" baseline="0" dirty="0">
                <a:latin typeface="Times New Roman" panose="02020603050405020304" pitchFamily="18" charset="0"/>
                <a:cs typeface="Times New Roman" panose="02020603050405020304" pitchFamily="18" charset="0"/>
              </a:rPr>
              <a:t>“Economical Analysis Of Hybrid Energy Systems For Rural Electrification Using HOMER”</a:t>
            </a:r>
          </a:p>
          <a:p>
            <a:pPr algn="l"/>
            <a:r>
              <a:rPr lang="en-IN" sz="1600" b="1" dirty="0">
                <a:latin typeface="Times New Roman" panose="02020603050405020304" pitchFamily="18" charset="0"/>
                <a:cs typeface="Times New Roman" panose="02020603050405020304" pitchFamily="18" charset="0"/>
              </a:rPr>
              <a:t>     [2017]</a:t>
            </a:r>
          </a:p>
          <a:p>
            <a:pPr algn="l"/>
            <a:endParaRPr lang="en-IN" sz="16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600" u="none" strike="noStrike" baseline="0" dirty="0">
                <a:latin typeface="Times New Roman" panose="02020603050405020304" pitchFamily="18" charset="0"/>
                <a:cs typeface="Times New Roman" panose="02020603050405020304" pitchFamily="18" charset="0"/>
              </a:rPr>
              <a:t>The paper proposes a methodology using HOMER to design a stand-alone hybrid PV/wind/diesel/battery system, focusing on minimizing the Cost of Energy (COE) and CO₂ emissions for the village of Perumal </a:t>
            </a:r>
            <a:r>
              <a:rPr lang="en-IN" sz="1600" u="none" strike="noStrike" baseline="0" dirty="0" err="1">
                <a:latin typeface="Times New Roman" panose="02020603050405020304" pitchFamily="18" charset="0"/>
                <a:cs typeface="Times New Roman" panose="02020603050405020304" pitchFamily="18" charset="0"/>
              </a:rPr>
              <a:t>Kovilpathy</a:t>
            </a:r>
            <a:r>
              <a:rPr lang="en-IN" sz="1600" u="none" strike="noStrike" baseline="0" dirty="0">
                <a:latin typeface="Times New Roman" panose="02020603050405020304" pitchFamily="18" charset="0"/>
                <a:cs typeface="Times New Roman" panose="02020603050405020304" pitchFamily="18" charset="0"/>
              </a:rPr>
              <a:t>, Tamil </a:t>
            </a:r>
            <a:r>
              <a:rPr lang="en-IN" sz="1600" u="none" strike="noStrike" baseline="0">
                <a:latin typeface="Times New Roman" panose="02020603050405020304" pitchFamily="18" charset="0"/>
                <a:cs typeface="Times New Roman" panose="02020603050405020304" pitchFamily="18" charset="0"/>
              </a:rPr>
              <a:t>Nadu.</a:t>
            </a:r>
          </a:p>
          <a:p>
            <a:pPr marL="285750" indent="-285750" algn="l">
              <a:buFont typeface="Arial" panose="020B0604020202020204" pitchFamily="34" charset="0"/>
              <a:buChar char="•"/>
            </a:pPr>
            <a:r>
              <a:rPr lang="en-IN" sz="1600" u="none" strike="noStrike" baseline="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Hybrid combination of renewable energy sources at an off-grid location can be a cost-effective alternative to grid extension and it is sustainable, economically, and environmentally friendly.</a:t>
            </a: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Three combinations of hybrid system is proposed among which the most economical is </a:t>
            </a:r>
            <a:r>
              <a:rPr lang="en-IN" sz="1600" dirty="0" err="1">
                <a:latin typeface="Times New Roman" panose="02020603050405020304" pitchFamily="18" charset="0"/>
                <a:cs typeface="Times New Roman" panose="02020603050405020304" pitchFamily="18" charset="0"/>
              </a:rPr>
              <a:t>pv</a:t>
            </a:r>
            <a:r>
              <a:rPr lang="en-IN" sz="1600" dirty="0">
                <a:latin typeface="Times New Roman" panose="02020603050405020304" pitchFamily="18" charset="0"/>
                <a:cs typeface="Times New Roman" panose="02020603050405020304" pitchFamily="18" charset="0"/>
              </a:rPr>
              <a:t>-diesel generator- battery.</a:t>
            </a:r>
          </a:p>
          <a:p>
            <a:pPr marL="285750" indent="-285750" algn="l">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l"/>
            <a:r>
              <a:rPr lang="en-IN" sz="1600" b="1" dirty="0">
                <a:latin typeface="Times New Roman" panose="02020603050405020304" pitchFamily="18" charset="0"/>
                <a:cs typeface="Times New Roman" panose="02020603050405020304" pitchFamily="18" charset="0"/>
              </a:rPr>
              <a:t>2)</a:t>
            </a:r>
            <a:r>
              <a:rPr lang="en-IN" sz="1800" dirty="0">
                <a:latin typeface="TimesNewRoman"/>
                <a:cs typeface="Times New Roman" panose="02020603050405020304" pitchFamily="18" charset="0"/>
              </a:rPr>
              <a:t> </a:t>
            </a:r>
            <a:r>
              <a:rPr lang="en-IN" sz="1600" b="1" i="0" u="none" strike="noStrike" baseline="0" dirty="0">
                <a:latin typeface="Times New Roman" panose="02020603050405020304" pitchFamily="18" charset="0"/>
                <a:cs typeface="Times New Roman" panose="02020603050405020304" pitchFamily="18" charset="0"/>
              </a:rPr>
              <a:t>“</a:t>
            </a:r>
            <a:r>
              <a:rPr lang="en-US" sz="1600" b="1" i="0" u="none" strike="noStrike" baseline="0" dirty="0">
                <a:latin typeface="Times New Roman" panose="02020603050405020304" pitchFamily="18" charset="0"/>
                <a:cs typeface="Times New Roman" panose="02020603050405020304" pitchFamily="18" charset="0"/>
              </a:rPr>
              <a:t>Technical Performance Evaluation And Economic </a:t>
            </a:r>
            <a:r>
              <a:rPr lang="en-IN" sz="1600" b="1" i="0" u="none" strike="noStrike" baseline="0" dirty="0">
                <a:latin typeface="Times New Roman" panose="02020603050405020304" pitchFamily="18" charset="0"/>
                <a:cs typeface="Times New Roman" panose="02020603050405020304" pitchFamily="18" charset="0"/>
              </a:rPr>
              <a:t>Viable Solutions Using Hybrid      	</a:t>
            </a:r>
            <a:br>
              <a:rPr lang="en-IN" sz="1600" b="1" i="0" u="none" strike="noStrike" baseline="0" dirty="0">
                <a:latin typeface="Times New Roman" panose="02020603050405020304" pitchFamily="18" charset="0"/>
                <a:cs typeface="Times New Roman" panose="02020603050405020304" pitchFamily="18" charset="0"/>
              </a:rPr>
            </a:br>
            <a:r>
              <a:rPr lang="en-IN" sz="1600" b="1" i="0" u="none" strike="noStrike" baseline="0" dirty="0">
                <a:latin typeface="Times New Roman" panose="02020603050405020304" pitchFamily="18" charset="0"/>
                <a:cs typeface="Times New Roman" panose="02020603050405020304" pitchFamily="18" charset="0"/>
              </a:rPr>
              <a:t>      Renewable Energy Systems”[2015]</a:t>
            </a:r>
          </a:p>
          <a:p>
            <a:pPr algn="l"/>
            <a:endParaRPr lang="en-IN" sz="16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600" i="0" u="none" strike="noStrike" baseline="0" dirty="0">
                <a:latin typeface="Times New Roman" panose="02020603050405020304" pitchFamily="18" charset="0"/>
                <a:cs typeface="Times New Roman" panose="02020603050405020304" pitchFamily="18" charset="0"/>
              </a:rPr>
              <a:t>The design of a hybrid renewable energy system with battery backup has been proposed in this paper. For this hybrid system, the meteorological data of Solar Radiation, and hourly </a:t>
            </a:r>
            <a:r>
              <a:rPr lang="en-IN" sz="1600" i="0" u="none" strike="noStrike" baseline="0" dirty="0">
                <a:latin typeface="Times New Roman" panose="02020603050405020304" pitchFamily="18" charset="0"/>
                <a:cs typeface="Times New Roman" panose="02020603050405020304" pitchFamily="18" charset="0"/>
              </a:rPr>
              <a:t>wind speed are taken to meet the primary load of 100KWh/day, and 28Kw peak load.</a:t>
            </a:r>
            <a:endParaRPr lang="en-IN" sz="16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600" i="0" u="none" strike="noStrike" baseline="0" dirty="0">
                <a:latin typeface="Times New Roman" panose="02020603050405020304" pitchFamily="18" charset="0"/>
                <a:cs typeface="Times New Roman" panose="02020603050405020304" pitchFamily="18" charset="0"/>
              </a:rPr>
              <a:t>The local </a:t>
            </a:r>
            <a:r>
              <a:rPr lang="en-US" sz="1600" i="0" u="none" strike="noStrike" baseline="0" dirty="0">
                <a:latin typeface="Times New Roman" panose="02020603050405020304" pitchFamily="18" charset="0"/>
                <a:cs typeface="Times New Roman" panose="02020603050405020304" pitchFamily="18" charset="0"/>
              </a:rPr>
              <a:t>solar radiation, wind data, and load were analyzed and simulated in HOMER to assess the technical and economic viability of the integrated system.</a:t>
            </a:r>
            <a:endParaRPr lang="en-IN" sz="16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Simulation of this hybrid power system was done using HOMER.</a:t>
            </a:r>
            <a:endParaRPr lang="en-US" sz="1600"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172A025-A98E-9C3F-4385-7CFD6E619246}"/>
              </a:ext>
            </a:extLst>
          </p:cNvPr>
          <p:cNvSpPr>
            <a:spLocks noGrp="1"/>
          </p:cNvSpPr>
          <p:nvPr>
            <p:ph type="ftr" idx="11"/>
          </p:nvPr>
        </p:nvSpPr>
        <p:spPr>
          <a:xfrm>
            <a:off x="2666999" y="6356350"/>
            <a:ext cx="4391025" cy="365125"/>
          </a:xfrm>
        </p:spPr>
        <p:txBody>
          <a:bodyPr/>
          <a:lstStyle/>
          <a:p>
            <a:r>
              <a:rPr lang="en-US" dirty="0"/>
              <a:t>PES's MCOE Department of Electrical Engineering (AY : 2022-23)</a:t>
            </a:r>
          </a:p>
        </p:txBody>
      </p:sp>
      <p:sp>
        <p:nvSpPr>
          <p:cNvPr id="7" name="Slide Number Placeholder 6">
            <a:extLst>
              <a:ext uri="{FF2B5EF4-FFF2-40B4-BE49-F238E27FC236}">
                <a16:creationId xmlns:a16="http://schemas.microsoft.com/office/drawing/2014/main" id="{6C3D4577-CA26-9C06-BC2D-97CC20A357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1582084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8E88D1-94D7-69FD-EB5E-AD7FC28210E2}"/>
              </a:ext>
            </a:extLst>
          </p:cNvPr>
          <p:cNvSpPr txBox="1"/>
          <p:nvPr/>
        </p:nvSpPr>
        <p:spPr>
          <a:xfrm>
            <a:off x="0" y="1056015"/>
            <a:ext cx="8981954" cy="5570756"/>
          </a:xfrm>
          <a:prstGeom prst="rect">
            <a:avLst/>
          </a:prstGeom>
          <a:noFill/>
        </p:spPr>
        <p:txBody>
          <a:bodyPr wrap="square" rtlCol="0">
            <a:spAutoFit/>
          </a:bodyPr>
          <a:lstStyle/>
          <a:p>
            <a:pPr algn="l"/>
            <a:r>
              <a:rPr lang="en-US" sz="1600" b="1" dirty="0">
                <a:latin typeface="Times New Roman" panose="02020603050405020304" pitchFamily="18" charset="0"/>
                <a:cs typeface="Times New Roman" panose="02020603050405020304" pitchFamily="18" charset="0"/>
              </a:rPr>
              <a:t>3</a:t>
            </a:r>
            <a:r>
              <a:rPr lang="en-US" sz="1600" b="1" i="0" u="none" strike="noStrike" baseline="0" dirty="0">
                <a:latin typeface="Times New Roman" panose="02020603050405020304" pitchFamily="18" charset="0"/>
                <a:cs typeface="Times New Roman" panose="02020603050405020304" pitchFamily="18" charset="0"/>
              </a:rPr>
              <a:t>)  “A Review of Hybrid Renewable/Alternative Energy Systems for Electric Power                                       </a:t>
            </a:r>
          </a:p>
          <a:p>
            <a:pPr algn="l"/>
            <a:r>
              <a:rPr lang="en-US" sz="1600" b="1" dirty="0">
                <a:latin typeface="Times New Roman" panose="02020603050405020304" pitchFamily="18" charset="0"/>
                <a:cs typeface="Times New Roman" panose="02020603050405020304" pitchFamily="18" charset="0"/>
              </a:rPr>
              <a:t>      </a:t>
            </a:r>
            <a:r>
              <a:rPr lang="en-US" sz="1600" b="1" i="0" u="none" strike="noStrike" baseline="0" dirty="0">
                <a:latin typeface="Times New Roman" panose="02020603050405020304" pitchFamily="18" charset="0"/>
                <a:cs typeface="Times New Roman" panose="02020603050405020304" pitchFamily="18" charset="0"/>
              </a:rPr>
              <a:t>Generation: </a:t>
            </a:r>
            <a:r>
              <a:rPr lang="en-IN" sz="1600" b="1" i="0" u="none" strike="noStrike" baseline="0" dirty="0">
                <a:latin typeface="Times New Roman" panose="02020603050405020304" pitchFamily="18" charset="0"/>
                <a:cs typeface="Times New Roman" panose="02020603050405020304" pitchFamily="18" charset="0"/>
              </a:rPr>
              <a:t>Configurations, Control, and Applications”[2017]</a:t>
            </a:r>
          </a:p>
          <a:p>
            <a:pPr marL="285750" indent="-285750" algn="l">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Different coupling methods for integration of different RE/AE systems such as DC coupling and AC coupling are discussed in this paper.</a:t>
            </a: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 DC coupling, the dc sources may be connected to the dc bus directly if appropriate. If there are any dc loads they can also be connected to the dc bus directly or through dc/dc converters.</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r>
              <a:rPr lang="en-IN" sz="1600" b="1" dirty="0">
                <a:latin typeface="Times New Roman" panose="02020603050405020304" pitchFamily="18" charset="0"/>
                <a:cs typeface="Times New Roman" panose="02020603050405020304" pitchFamily="18" charset="0"/>
              </a:rPr>
              <a:t>4)  </a:t>
            </a:r>
            <a:r>
              <a:rPr lang="en-IN" sz="1600" b="1" i="0" u="none" strike="noStrike" baseline="0" dirty="0">
                <a:latin typeface="Times New Roman" panose="02020603050405020304" pitchFamily="18" charset="0"/>
                <a:cs typeface="Times New Roman" panose="02020603050405020304" pitchFamily="18" charset="0"/>
              </a:rPr>
              <a:t>“</a:t>
            </a:r>
            <a:r>
              <a:rPr lang="en-US" sz="1600" b="1" i="0" u="none" strike="noStrike" baseline="0" dirty="0">
                <a:latin typeface="Times New Roman" panose="02020603050405020304" pitchFamily="18" charset="0"/>
                <a:cs typeface="Times New Roman" panose="02020603050405020304" pitchFamily="18" charset="0"/>
              </a:rPr>
              <a:t>Design of hybrid power systems using Homer </a:t>
            </a:r>
            <a:r>
              <a:rPr lang="en-IN" sz="1600" b="1" i="0" u="none" strike="noStrike" baseline="0" dirty="0">
                <a:latin typeface="Times New Roman" panose="02020603050405020304" pitchFamily="18" charset="0"/>
                <a:cs typeface="Times New Roman" panose="02020603050405020304" pitchFamily="18" charset="0"/>
              </a:rPr>
              <a:t>simulator for different renewable energy           </a:t>
            </a:r>
          </a:p>
          <a:p>
            <a:pPr algn="l"/>
            <a:r>
              <a:rPr lang="en-IN" sz="1600" b="1" dirty="0">
                <a:latin typeface="Times New Roman" panose="02020603050405020304" pitchFamily="18" charset="0"/>
                <a:cs typeface="Times New Roman" panose="02020603050405020304" pitchFamily="18" charset="0"/>
              </a:rPr>
              <a:t>      sources</a:t>
            </a:r>
            <a:r>
              <a:rPr lang="en-IN" sz="1600" b="1" i="0" u="none" strike="noStrike" baseline="0" dirty="0">
                <a:latin typeface="Times New Roman" panose="02020603050405020304" pitchFamily="18" charset="0"/>
                <a:cs typeface="Times New Roman" panose="02020603050405020304" pitchFamily="18" charset="0"/>
              </a:rPr>
              <a:t>”[2017]</a:t>
            </a:r>
          </a:p>
          <a:p>
            <a:pPr algn="l"/>
            <a:endParaRPr lang="en-IN" sz="1600" b="1"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HOMER is a software tool developed by the National Renewable Energy Laboratory to design hybrid systems such as renewable microgrids, standalone, or grid-connected hybrid power system.</a:t>
            </a: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Three cases are studied including 1)PV- Battery, 2) Wind turbine- Battery, and 3) PV-Wind turbine-Battery and their economic and technical parameters were analyzed in homer.</a:t>
            </a:r>
          </a:p>
          <a:p>
            <a:pPr marL="285750" indent="-285750" algn="l">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3</a:t>
            </a:r>
            <a:r>
              <a:rPr lang="en-IN" sz="1600" baseline="30000" dirty="0">
                <a:latin typeface="Times New Roman" panose="02020603050405020304" pitchFamily="18" charset="0"/>
                <a:cs typeface="Times New Roman" panose="02020603050405020304" pitchFamily="18" charset="0"/>
              </a:rPr>
              <a:t>rd</a:t>
            </a:r>
            <a:r>
              <a:rPr lang="en-IN" sz="1600" dirty="0">
                <a:latin typeface="Times New Roman" panose="02020603050405020304" pitchFamily="18" charset="0"/>
                <a:cs typeface="Times New Roman" panose="02020603050405020304" pitchFamily="18" charset="0"/>
              </a:rPr>
              <a:t> case (PV-Wind turbine-Battery) is more economical in terms of power generation than other cases.</a:t>
            </a:r>
          </a:p>
          <a:p>
            <a:pPr marL="285750" indent="-285750" algn="l">
              <a:buFont typeface="Arial" panose="020B0604020202020204" pitchFamily="34" charset="0"/>
              <a:buChar char="•"/>
            </a:pPr>
            <a:endParaRPr lang="en-IN" i="0" u="none" strike="noStrike" baseline="0" dirty="0">
              <a:latin typeface="Times New Roman" panose="02020603050405020304" pitchFamily="18" charset="0"/>
              <a:cs typeface="Times New Roman" panose="02020603050405020304" pitchFamily="18" charset="0"/>
            </a:endParaRPr>
          </a:p>
          <a:p>
            <a:pPr algn="l"/>
            <a:endParaRPr lang="en-IN"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sz="1600"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sz="1600" b="1"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D537A480-EBE7-743B-B2E3-890E64F5BFAF}"/>
              </a:ext>
            </a:extLst>
          </p:cNvPr>
          <p:cNvSpPr>
            <a:spLocks noGrp="1"/>
          </p:cNvSpPr>
          <p:nvPr>
            <p:ph type="ftr" idx="11"/>
          </p:nvPr>
        </p:nvSpPr>
        <p:spPr>
          <a:xfrm>
            <a:off x="2667000" y="6356350"/>
            <a:ext cx="4324350" cy="365125"/>
          </a:xfrm>
        </p:spPr>
        <p:txBody>
          <a:bodyPr/>
          <a:lstStyle/>
          <a:p>
            <a:r>
              <a:rPr lang="en-US" dirty="0"/>
              <a:t>PES's MCOE Department of Electrical Engineering (AY : 2022-23)</a:t>
            </a:r>
          </a:p>
        </p:txBody>
      </p:sp>
      <p:sp>
        <p:nvSpPr>
          <p:cNvPr id="4" name="Slide Number Placeholder 3">
            <a:extLst>
              <a:ext uri="{FF2B5EF4-FFF2-40B4-BE49-F238E27FC236}">
                <a16:creationId xmlns:a16="http://schemas.microsoft.com/office/drawing/2014/main" id="{2206C24C-DB7A-07E2-A6EC-059E57C7F2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extLst>
      <p:ext uri="{BB962C8B-B14F-4D97-AF65-F5344CB8AC3E}">
        <p14:creationId xmlns:p14="http://schemas.microsoft.com/office/powerpoint/2010/main" val="345574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D0B65D-B68F-F0D1-7DAF-AAAD048513F2}"/>
              </a:ext>
            </a:extLst>
          </p:cNvPr>
          <p:cNvSpPr txBox="1"/>
          <p:nvPr/>
        </p:nvSpPr>
        <p:spPr>
          <a:xfrm>
            <a:off x="115747" y="1111168"/>
            <a:ext cx="8060516" cy="4278094"/>
          </a:xfrm>
          <a:prstGeom prst="rect">
            <a:avLst/>
          </a:prstGeom>
          <a:noFill/>
        </p:spPr>
        <p:txBody>
          <a:bodyPr wrap="square" rtlCol="0">
            <a:spAutoFit/>
          </a:bodyPr>
          <a:lstStyle/>
          <a:p>
            <a:pPr algn="l"/>
            <a:r>
              <a:rPr lang="en-IN" sz="1600" b="1" i="0" u="none" strike="noStrike" baseline="0" dirty="0">
                <a:latin typeface="Times New Roman" panose="02020603050405020304" pitchFamily="18" charset="0"/>
                <a:cs typeface="Times New Roman" panose="02020603050405020304" pitchFamily="18" charset="0"/>
              </a:rPr>
              <a:t>5)  “Optimization and operation of a renewable energy based PV-FC-Micro grid using  </a:t>
            </a:r>
          </a:p>
          <a:p>
            <a:pPr algn="l"/>
            <a:r>
              <a:rPr lang="en-IN" sz="1600" b="1" dirty="0">
                <a:latin typeface="Times New Roman" panose="02020603050405020304" pitchFamily="18" charset="0"/>
                <a:cs typeface="Times New Roman" panose="02020603050405020304" pitchFamily="18" charset="0"/>
              </a:rPr>
              <a:t>       HOMER</a:t>
            </a:r>
            <a:r>
              <a:rPr lang="en-US" sz="1600" b="1" dirty="0">
                <a:latin typeface="Times New Roman" panose="02020603050405020304" pitchFamily="18" charset="0"/>
                <a:cs typeface="Times New Roman" panose="02020603050405020304" pitchFamily="18" charset="0"/>
              </a:rPr>
              <a:t>”[2017]</a:t>
            </a:r>
          </a:p>
          <a:p>
            <a:pPr marL="285750" indent="-285750" algn="l">
              <a:buFont typeface="Arial" panose="020B0604020202020204" pitchFamily="34" charset="0"/>
              <a:buChar char="•"/>
            </a:pPr>
            <a:endParaRPr lang="en-US" sz="1600"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paper optimizes the operation of PV/FC system with storage device under DC grid-connected mode and provides simulation results.</a:t>
            </a:r>
          </a:p>
          <a:p>
            <a:pPr marL="285750" indent="-285750" algn="l">
              <a:buFont typeface="Arial" panose="020B0604020202020204" pitchFamily="34" charset="0"/>
              <a:buChar char="•"/>
            </a:pPr>
            <a:r>
              <a:rPr lang="en-US" sz="1600" i="0" u="none" strike="noStrike" baseline="0" dirty="0">
                <a:latin typeface="Times New Roman" panose="02020603050405020304" pitchFamily="18" charset="0"/>
                <a:cs typeface="Times New Roman" panose="02020603050405020304" pitchFamily="18" charset="0"/>
              </a:rPr>
              <a:t> HOMER’s optimization and sensitivity analysis algorithms make it easier to evaluate possible design configurations</a:t>
            </a:r>
            <a:r>
              <a:rPr lang="en-US" sz="1600" dirty="0">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p>
            <a:pPr marL="342900" indent="-342900" algn="l">
              <a:buAutoNum type="arabicParenR" startAt="6"/>
            </a:pPr>
            <a:r>
              <a:rPr lang="en-US" sz="1600" b="1" dirty="0">
                <a:latin typeface="Times New Roman" panose="02020603050405020304" pitchFamily="18" charset="0"/>
                <a:cs typeface="Times New Roman" panose="02020603050405020304" pitchFamily="18" charset="0"/>
              </a:rPr>
              <a:t>“Design And Economic Analysis Of Hybrid Renewable Energy System ”[2019]</a:t>
            </a:r>
          </a:p>
          <a:p>
            <a:pPr marL="285750" indent="-285750" algn="l">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focal point of this paper is to design and perform analysis along with cost analysis of a wind-solar on grid hybrid power generation system for a selected location.</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For modeling of the proposed hybrid system MATLAB-SIMULINK is used and the Hybrid optimization model of renewable energy(HOMER)  is used for cost analysis.</a:t>
            </a:r>
          </a:p>
          <a:p>
            <a:pPr marL="285750" indent="-285750" algn="l">
              <a:buFont typeface="Arial" panose="020B0604020202020204" pitchFamily="34" charset="0"/>
              <a:buChar char="•"/>
            </a:pPr>
            <a:endParaRPr lang="en-US" sz="1600" i="0" u="none" strike="noStrike" baseline="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sz="1600" b="1" i="0" u="none" strike="noStrike" baseline="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9C9A3BA-A9D6-4F76-3995-7D217842F557}"/>
              </a:ext>
            </a:extLst>
          </p:cNvPr>
          <p:cNvSpPr>
            <a:spLocks noGrp="1"/>
          </p:cNvSpPr>
          <p:nvPr>
            <p:ph type="ftr" idx="11"/>
          </p:nvPr>
        </p:nvSpPr>
        <p:spPr>
          <a:xfrm>
            <a:off x="2666999" y="6356350"/>
            <a:ext cx="4981575" cy="365125"/>
          </a:xfrm>
        </p:spPr>
        <p:txBody>
          <a:bodyPr/>
          <a:lstStyle/>
          <a:p>
            <a:r>
              <a:rPr lang="en-US" dirty="0"/>
              <a:t>PES's MCOE Department of Electrical Engineering (AY : 2022-23)</a:t>
            </a:r>
          </a:p>
        </p:txBody>
      </p:sp>
      <p:sp>
        <p:nvSpPr>
          <p:cNvPr id="6" name="Slide Number Placeholder 5">
            <a:extLst>
              <a:ext uri="{FF2B5EF4-FFF2-40B4-BE49-F238E27FC236}">
                <a16:creationId xmlns:a16="http://schemas.microsoft.com/office/drawing/2014/main" id="{D7B4A841-6534-67CB-A650-0FE1005306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Tree>
    <p:extLst>
      <p:ext uri="{BB962C8B-B14F-4D97-AF65-F5344CB8AC3E}">
        <p14:creationId xmlns:p14="http://schemas.microsoft.com/office/powerpoint/2010/main" val="210855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555A9-C975-D1F3-9CAC-9EC8C39A12BD}"/>
              </a:ext>
            </a:extLst>
          </p:cNvPr>
          <p:cNvSpPr>
            <a:spLocks noGrp="1"/>
          </p:cNvSpPr>
          <p:nvPr>
            <p:ph type="title"/>
          </p:nvPr>
        </p:nvSpPr>
        <p:spPr>
          <a:xfrm>
            <a:off x="457200" y="205105"/>
            <a:ext cx="8229600" cy="1143000"/>
          </a:xfrm>
        </p:spPr>
        <p:txBody>
          <a:bodyPr>
            <a:normAutofit/>
          </a:bodyPr>
          <a:lstStyle/>
          <a:p>
            <a:pPr algn="ctr"/>
            <a:r>
              <a:rPr lang="en-IN" sz="3600" dirty="0">
                <a:solidFill>
                  <a:schemeClr val="tx2">
                    <a:lumMod val="25000"/>
                  </a:schemeClr>
                </a:solidFill>
                <a:latin typeface="Times New Roman" panose="02020603050405020304" pitchFamily="18" charset="0"/>
                <a:cs typeface="Times New Roman" panose="02020603050405020304" pitchFamily="18" charset="0"/>
              </a:rPr>
              <a:t>Methodology</a:t>
            </a:r>
          </a:p>
        </p:txBody>
      </p:sp>
      <p:sp>
        <p:nvSpPr>
          <p:cNvPr id="3" name="Text Placeholder 2">
            <a:extLst>
              <a:ext uri="{FF2B5EF4-FFF2-40B4-BE49-F238E27FC236}">
                <a16:creationId xmlns:a16="http://schemas.microsoft.com/office/drawing/2014/main" id="{92F217A8-EBDA-919F-9DA0-3DD2800787AF}"/>
              </a:ext>
            </a:extLst>
          </p:cNvPr>
          <p:cNvSpPr>
            <a:spLocks noGrp="1"/>
          </p:cNvSpPr>
          <p:nvPr>
            <p:ph type="body" idx="1"/>
          </p:nvPr>
        </p:nvSpPr>
        <p:spPr>
          <a:xfrm>
            <a:off x="428919" y="1784648"/>
            <a:ext cx="8229600" cy="4389120"/>
          </a:xfrm>
        </p:spPr>
        <p:txBody>
          <a:bodyPr>
            <a:normAutofit/>
          </a:bodyPr>
          <a:lstStyle/>
          <a:p>
            <a:pPr>
              <a:buClr>
                <a:schemeClr val="bg2">
                  <a:lumMod val="60000"/>
                  <a:lumOff val="40000"/>
                </a:schemeClr>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Collection of electric load data and plotting daily Load Curve.</a:t>
            </a:r>
          </a:p>
          <a:p>
            <a:pPr marL="120015" indent="0">
              <a:buClr>
                <a:schemeClr val="bg2">
                  <a:lumMod val="60000"/>
                  <a:lumOff val="40000"/>
                </a:schemeClr>
              </a:buClr>
              <a:buNone/>
            </a:pPr>
            <a:endParaRPr lang="en-IN" sz="2000" dirty="0">
              <a:latin typeface="Times New Roman" panose="02020603050405020304" pitchFamily="18" charset="0"/>
              <a:cs typeface="Times New Roman" panose="02020603050405020304" pitchFamily="18" charset="0"/>
            </a:endParaRPr>
          </a:p>
          <a:p>
            <a:pPr>
              <a:buClr>
                <a:schemeClr val="bg2">
                  <a:lumMod val="60000"/>
                  <a:lumOff val="40000"/>
                </a:schemeClr>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Collection of solar data and wind data such as Average Daily Solar Irradiance( kwh/m^2/ day), and Average Daily Wind (m/sec) of a given location.</a:t>
            </a:r>
          </a:p>
          <a:p>
            <a:pPr>
              <a:buClr>
                <a:schemeClr val="bg2">
                  <a:lumMod val="60000"/>
                  <a:lumOff val="40000"/>
                </a:schemeClr>
              </a:buCl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buClr>
                <a:schemeClr val="bg2">
                  <a:lumMod val="60000"/>
                  <a:lumOff val="40000"/>
                </a:schemeClr>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Market survey for determining components’ cost and yearly maintenance cost.</a:t>
            </a:r>
          </a:p>
          <a:p>
            <a:pPr>
              <a:buClr>
                <a:schemeClr val="bg2">
                  <a:lumMod val="60000"/>
                  <a:lumOff val="40000"/>
                </a:schemeClr>
              </a:buCl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buClr>
                <a:schemeClr val="bg2">
                  <a:lumMod val="60000"/>
                  <a:lumOff val="40000"/>
                </a:schemeClr>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Simulation performed on HOMER software.</a:t>
            </a:r>
          </a:p>
          <a:p>
            <a:pPr>
              <a:buClr>
                <a:schemeClr val="bg2">
                  <a:lumMod val="60000"/>
                  <a:lumOff val="40000"/>
                </a:schemeClr>
              </a:buCl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a:buClr>
                <a:schemeClr val="bg2">
                  <a:lumMod val="60000"/>
                  <a:lumOff val="40000"/>
                </a:schemeClr>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Comparative analysis of different combination results.</a:t>
            </a:r>
          </a:p>
        </p:txBody>
      </p:sp>
      <p:sp>
        <p:nvSpPr>
          <p:cNvPr id="4" name="Footer Placeholder 3">
            <a:extLst>
              <a:ext uri="{FF2B5EF4-FFF2-40B4-BE49-F238E27FC236}">
                <a16:creationId xmlns:a16="http://schemas.microsoft.com/office/drawing/2014/main" id="{A6B02BA1-0F38-2B3B-F4D3-943B22C8B878}"/>
              </a:ext>
            </a:extLst>
          </p:cNvPr>
          <p:cNvSpPr>
            <a:spLocks noGrp="1"/>
          </p:cNvSpPr>
          <p:nvPr>
            <p:ph type="ftr" idx="11"/>
          </p:nvPr>
        </p:nvSpPr>
        <p:spPr/>
        <p:txBody>
          <a:bodyPr/>
          <a:lstStyle/>
          <a:p>
            <a:r>
              <a:rPr lang="en-US"/>
              <a:t>PES's MCOE Department of Electrical Engineering (AY : 2022-23)</a:t>
            </a:r>
          </a:p>
        </p:txBody>
      </p:sp>
      <p:sp>
        <p:nvSpPr>
          <p:cNvPr id="5" name="Slide Number Placeholder 4">
            <a:extLst>
              <a:ext uri="{FF2B5EF4-FFF2-40B4-BE49-F238E27FC236}">
                <a16:creationId xmlns:a16="http://schemas.microsoft.com/office/drawing/2014/main" id="{362D00EE-9914-9CDF-E390-7AC7C6E4C3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51462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5DB479-8BE5-4B70-4128-AE51EC6CB052}"/>
              </a:ext>
            </a:extLst>
          </p:cNvPr>
          <p:cNvSpPr txBox="1"/>
          <p:nvPr/>
        </p:nvSpPr>
        <p:spPr>
          <a:xfrm>
            <a:off x="2011839" y="775586"/>
            <a:ext cx="5120322" cy="646331"/>
          </a:xfrm>
          <a:prstGeom prst="rect">
            <a:avLst/>
          </a:prstGeom>
          <a:noFill/>
        </p:spPr>
        <p:txBody>
          <a:bodyPr wrap="square" rtlCol="0">
            <a:spAutoFit/>
          </a:bodyPr>
          <a:lstStyle/>
          <a:p>
            <a:pPr algn="ctr"/>
            <a:r>
              <a:rPr lang="en-IN" sz="3600" dirty="0">
                <a:solidFill>
                  <a:schemeClr val="tx2">
                    <a:lumMod val="25000"/>
                  </a:schemeClr>
                </a:solidFill>
                <a:latin typeface="Times New Roman" panose="02020603050405020304" pitchFamily="18" charset="0"/>
                <a:cs typeface="Times New Roman" panose="02020603050405020304" pitchFamily="18" charset="0"/>
              </a:rPr>
              <a:t>Block Diagram</a:t>
            </a:r>
          </a:p>
        </p:txBody>
      </p:sp>
      <p:sp>
        <p:nvSpPr>
          <p:cNvPr id="12" name="Footer Placeholder 11">
            <a:extLst>
              <a:ext uri="{FF2B5EF4-FFF2-40B4-BE49-F238E27FC236}">
                <a16:creationId xmlns:a16="http://schemas.microsoft.com/office/drawing/2014/main" id="{317E93AF-4BFF-8916-A9C1-61B518898213}"/>
              </a:ext>
            </a:extLst>
          </p:cNvPr>
          <p:cNvSpPr>
            <a:spLocks noGrp="1"/>
          </p:cNvSpPr>
          <p:nvPr>
            <p:ph type="ftr" idx="11"/>
          </p:nvPr>
        </p:nvSpPr>
        <p:spPr/>
        <p:txBody>
          <a:bodyPr/>
          <a:lstStyle/>
          <a:p>
            <a:r>
              <a:rPr lang="en-US" dirty="0"/>
              <a:t>PES's MCOE Department of Electrical Engineering (AY : 2022-23)</a:t>
            </a:r>
          </a:p>
        </p:txBody>
      </p:sp>
      <p:sp>
        <p:nvSpPr>
          <p:cNvPr id="14" name="Slide Number Placeholder 13">
            <a:extLst>
              <a:ext uri="{FF2B5EF4-FFF2-40B4-BE49-F238E27FC236}">
                <a16:creationId xmlns:a16="http://schemas.microsoft.com/office/drawing/2014/main" id="{92DE535F-C19B-29E0-F3FE-B383C2F1DD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10" name="Picture 9">
            <a:extLst>
              <a:ext uri="{FF2B5EF4-FFF2-40B4-BE49-F238E27FC236}">
                <a16:creationId xmlns:a16="http://schemas.microsoft.com/office/drawing/2014/main" id="{6A4775A9-9C35-6505-367F-72C3C9E8F947}"/>
              </a:ext>
            </a:extLst>
          </p:cNvPr>
          <p:cNvPicPr>
            <a:picLocks noChangeAspect="1"/>
          </p:cNvPicPr>
          <p:nvPr/>
        </p:nvPicPr>
        <p:blipFill>
          <a:blip r:embed="rId2"/>
          <a:stretch>
            <a:fillRect/>
          </a:stretch>
        </p:blipFill>
        <p:spPr>
          <a:xfrm>
            <a:off x="1316394" y="1618916"/>
            <a:ext cx="6812870" cy="3612193"/>
          </a:xfrm>
          <a:prstGeom prst="rect">
            <a:avLst/>
          </a:prstGeom>
          <a:ln>
            <a:solidFill>
              <a:schemeClr val="tx1"/>
            </a:solidFill>
          </a:ln>
        </p:spPr>
      </p:pic>
      <p:sp>
        <p:nvSpPr>
          <p:cNvPr id="20" name="TextBox 19">
            <a:extLst>
              <a:ext uri="{FF2B5EF4-FFF2-40B4-BE49-F238E27FC236}">
                <a16:creationId xmlns:a16="http://schemas.microsoft.com/office/drawing/2014/main" id="{49DDCAA7-62C8-E6FD-EA44-FEBBA25DE6CB}"/>
              </a:ext>
            </a:extLst>
          </p:cNvPr>
          <p:cNvSpPr txBox="1"/>
          <p:nvPr/>
        </p:nvSpPr>
        <p:spPr>
          <a:xfrm>
            <a:off x="2497312" y="5389916"/>
            <a:ext cx="5649806" cy="369332"/>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Basic Block Diagram of The System</a:t>
            </a:r>
          </a:p>
        </p:txBody>
      </p:sp>
    </p:spTree>
    <p:extLst>
      <p:ext uri="{BB962C8B-B14F-4D97-AF65-F5344CB8AC3E}">
        <p14:creationId xmlns:p14="http://schemas.microsoft.com/office/powerpoint/2010/main" val="146183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5FFD-4D3F-70E2-9DBC-12E7CBA07592}"/>
              </a:ext>
            </a:extLst>
          </p:cNvPr>
          <p:cNvSpPr>
            <a:spLocks noGrp="1"/>
          </p:cNvSpPr>
          <p:nvPr>
            <p:ph type="title"/>
          </p:nvPr>
        </p:nvSpPr>
        <p:spPr>
          <a:xfrm>
            <a:off x="157786" y="213804"/>
            <a:ext cx="8305800" cy="1143000"/>
          </a:xfrm>
        </p:spPr>
        <p:txBody>
          <a:bodyPr>
            <a:normAutofit/>
          </a:bodyPr>
          <a:lstStyle/>
          <a:p>
            <a:pPr algn="ctr"/>
            <a:r>
              <a:rPr lang="en-IN" sz="2800" dirty="0">
                <a:solidFill>
                  <a:schemeClr val="tx2">
                    <a:lumMod val="25000"/>
                  </a:schemeClr>
                </a:solidFill>
                <a:latin typeface="Times New Roman" panose="02020603050405020304" pitchFamily="18" charset="0"/>
                <a:cs typeface="Times New Roman" panose="02020603050405020304" pitchFamily="18" charset="0"/>
              </a:rPr>
              <a:t>Schematic Diagram</a:t>
            </a:r>
          </a:p>
        </p:txBody>
      </p:sp>
      <p:sp>
        <p:nvSpPr>
          <p:cNvPr id="3" name="Footer Placeholder 2">
            <a:extLst>
              <a:ext uri="{FF2B5EF4-FFF2-40B4-BE49-F238E27FC236}">
                <a16:creationId xmlns:a16="http://schemas.microsoft.com/office/drawing/2014/main" id="{CEE745C7-8628-7A07-12EA-875D0E36BCA2}"/>
              </a:ext>
            </a:extLst>
          </p:cNvPr>
          <p:cNvSpPr>
            <a:spLocks noGrp="1"/>
          </p:cNvSpPr>
          <p:nvPr>
            <p:ph type="ftr" idx="11"/>
          </p:nvPr>
        </p:nvSpPr>
        <p:spPr/>
        <p:txBody>
          <a:bodyPr/>
          <a:lstStyle/>
          <a:p>
            <a:r>
              <a:rPr lang="en-US"/>
              <a:t>PES's MCOE Department of Electrical Engineering (AY : 2022-23)</a:t>
            </a:r>
          </a:p>
        </p:txBody>
      </p:sp>
      <p:sp>
        <p:nvSpPr>
          <p:cNvPr id="4" name="Slide Number Placeholder 3">
            <a:extLst>
              <a:ext uri="{FF2B5EF4-FFF2-40B4-BE49-F238E27FC236}">
                <a16:creationId xmlns:a16="http://schemas.microsoft.com/office/drawing/2014/main" id="{9509E8BE-BED2-6C94-23FF-6D6377DA94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5" name="Picture 4">
            <a:extLst>
              <a:ext uri="{FF2B5EF4-FFF2-40B4-BE49-F238E27FC236}">
                <a16:creationId xmlns:a16="http://schemas.microsoft.com/office/drawing/2014/main" id="{7D8F4281-07D3-87FC-AB6C-A0933EF0D262}"/>
              </a:ext>
            </a:extLst>
          </p:cNvPr>
          <p:cNvPicPr>
            <a:picLocks noChangeAspect="1"/>
          </p:cNvPicPr>
          <p:nvPr/>
        </p:nvPicPr>
        <p:blipFill rotWithShape="1">
          <a:blip r:embed="rId2">
            <a:extLst>
              <a:ext uri="{28A0092B-C50C-407E-A947-70E740481C1C}">
                <a14:useLocalDpi xmlns:a14="http://schemas.microsoft.com/office/drawing/2010/main" val="0"/>
              </a:ext>
            </a:extLst>
          </a:blip>
          <a:srcRect r="20626" b="5674"/>
          <a:stretch/>
        </p:blipFill>
        <p:spPr bwMode="auto">
          <a:xfrm>
            <a:off x="2121031" y="1557780"/>
            <a:ext cx="4685122" cy="3742440"/>
          </a:xfrm>
          <a:prstGeom prst="rect">
            <a:avLst/>
          </a:prstGeom>
          <a:ln>
            <a:solidFill>
              <a:schemeClr val="tx1"/>
            </a:solid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FCE41841-EE00-CDE4-AB90-2169E36DD2F5}"/>
              </a:ext>
            </a:extLst>
          </p:cNvPr>
          <p:cNvSpPr txBox="1"/>
          <p:nvPr/>
        </p:nvSpPr>
        <p:spPr>
          <a:xfrm>
            <a:off x="2667000" y="5505254"/>
            <a:ext cx="3432142" cy="369332"/>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Block Diagram of Actual System</a:t>
            </a:r>
          </a:p>
        </p:txBody>
      </p:sp>
    </p:spTree>
    <p:extLst>
      <p:ext uri="{BB962C8B-B14F-4D97-AF65-F5344CB8AC3E}">
        <p14:creationId xmlns:p14="http://schemas.microsoft.com/office/powerpoint/2010/main" val="3417055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91250-0AC5-F26C-056A-F1604895AD34}"/>
              </a:ext>
            </a:extLst>
          </p:cNvPr>
          <p:cNvSpPr>
            <a:spLocks noGrp="1"/>
          </p:cNvSpPr>
          <p:nvPr>
            <p:ph type="title"/>
          </p:nvPr>
        </p:nvSpPr>
        <p:spPr>
          <a:xfrm>
            <a:off x="381000" y="875833"/>
            <a:ext cx="8229600" cy="1143000"/>
          </a:xfrm>
        </p:spPr>
        <p:txBody>
          <a:bodyPr>
            <a:normAutofit/>
          </a:bodyPr>
          <a:lstStyle/>
          <a:p>
            <a:pPr algn="ctr"/>
            <a:r>
              <a:rPr lang="en-US" sz="3600" dirty="0">
                <a:solidFill>
                  <a:schemeClr val="tx2">
                    <a:lumMod val="25000"/>
                  </a:schemeClr>
                </a:solidFill>
                <a:latin typeface="Times New Roman" panose="02020603050405020304" pitchFamily="18" charset="0"/>
                <a:cs typeface="Times New Roman" panose="02020603050405020304" pitchFamily="18" charset="0"/>
              </a:rPr>
              <a:t>Work done </a:t>
            </a:r>
            <a:br>
              <a:rPr lang="en-US" sz="3600" u="sng" dirty="0">
                <a:solidFill>
                  <a:schemeClr val="tx1"/>
                </a:solidFill>
                <a:latin typeface="Times New Roman" panose="02020603050405020304" pitchFamily="18" charset="0"/>
                <a:cs typeface="Times New Roman" panose="02020603050405020304" pitchFamily="18" charset="0"/>
              </a:rPr>
            </a:br>
            <a:endParaRPr lang="en-IN" sz="3600" u="sng" dirty="0">
              <a:solidFill>
                <a:schemeClr val="tx1"/>
              </a:solidFill>
            </a:endParaRPr>
          </a:p>
        </p:txBody>
      </p:sp>
      <p:sp>
        <p:nvSpPr>
          <p:cNvPr id="3" name="Text Placeholder 2">
            <a:extLst>
              <a:ext uri="{FF2B5EF4-FFF2-40B4-BE49-F238E27FC236}">
                <a16:creationId xmlns:a16="http://schemas.microsoft.com/office/drawing/2014/main" id="{8050F154-D34B-1975-0E44-A383FBDFF7B9}"/>
              </a:ext>
            </a:extLst>
          </p:cNvPr>
          <p:cNvSpPr>
            <a:spLocks noGrp="1"/>
          </p:cNvSpPr>
          <p:nvPr>
            <p:ph type="body" idx="1"/>
          </p:nvPr>
        </p:nvSpPr>
        <p:spPr>
          <a:xfrm>
            <a:off x="381000" y="1479946"/>
            <a:ext cx="8229600" cy="4590916"/>
          </a:xfrm>
        </p:spPr>
        <p:txBody>
          <a:bodyPr>
            <a:normAutofit/>
          </a:bodyPr>
          <a:lstStyle/>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Study of HOMER software (study of different parameters in it).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Considered a residential electrical load of 9.58kw peak. Annual average Daily consumption of 46.01 kWh.</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Find the solar and wind for a given location </a:t>
            </a:r>
          </a:p>
          <a:p>
            <a:pPr marL="120015" indent="0">
              <a:buNone/>
            </a:pPr>
            <a:r>
              <a:rPr lang="en-IN" sz="2000" dirty="0">
                <a:latin typeface="Times New Roman" panose="02020603050405020304" pitchFamily="18" charset="0"/>
                <a:cs typeface="Times New Roman" panose="02020603050405020304" pitchFamily="18" charset="0"/>
              </a:rPr>
              <a:t>	1) Solar Irradiance (kw/m^2/day)</a:t>
            </a:r>
          </a:p>
          <a:p>
            <a:pPr marL="120015" indent="0">
              <a:buNone/>
            </a:pPr>
            <a:r>
              <a:rPr lang="en-IN" sz="2000" dirty="0">
                <a:latin typeface="Times New Roman" panose="02020603050405020304" pitchFamily="18" charset="0"/>
                <a:cs typeface="Times New Roman" panose="02020603050405020304" pitchFamily="18" charset="0"/>
              </a:rPr>
              <a:t>	2) Wind Speed(m/sec)</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Find the yearly operating cost when our load is connected to the Grid only.</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Initial cost and maintenance cost of the components</a:t>
            </a:r>
            <a:r>
              <a:rPr lang="en-IN" sz="1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Simulation studies are done</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Final results and conclusion done</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Work on a research paper done.</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Work on the Final Report done</a:t>
            </a:r>
          </a:p>
          <a:p>
            <a:pPr marL="120015" indent="0">
              <a:buNone/>
            </a:pPr>
            <a:r>
              <a:rPr lang="en-IN" sz="1800" dirty="0">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08944307-F9D2-0EE2-AFEF-CEAC24D1D446}"/>
              </a:ext>
            </a:extLst>
          </p:cNvPr>
          <p:cNvSpPr>
            <a:spLocks noGrp="1"/>
          </p:cNvSpPr>
          <p:nvPr>
            <p:ph type="ftr" idx="11"/>
          </p:nvPr>
        </p:nvSpPr>
        <p:spPr/>
        <p:txBody>
          <a:bodyPr/>
          <a:lstStyle/>
          <a:p>
            <a:r>
              <a:rPr lang="en-US"/>
              <a:t>PES's MCOE Department of Electrical Engineering (AY : 2022-23)</a:t>
            </a:r>
          </a:p>
        </p:txBody>
      </p:sp>
      <p:sp>
        <p:nvSpPr>
          <p:cNvPr id="5" name="Slide Number Placeholder 4">
            <a:extLst>
              <a:ext uri="{FF2B5EF4-FFF2-40B4-BE49-F238E27FC236}">
                <a16:creationId xmlns:a16="http://schemas.microsoft.com/office/drawing/2014/main" id="{BA6EB07D-C8F7-23C1-F925-705B7D752E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02759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D8B3-A2C0-8C90-A525-25EE8E64DCB5}"/>
              </a:ext>
            </a:extLst>
          </p:cNvPr>
          <p:cNvSpPr>
            <a:spLocks noGrp="1"/>
          </p:cNvSpPr>
          <p:nvPr>
            <p:ph type="title"/>
          </p:nvPr>
        </p:nvSpPr>
        <p:spPr>
          <a:xfrm>
            <a:off x="532615" y="1084083"/>
            <a:ext cx="8305800" cy="489628"/>
          </a:xfrm>
        </p:spPr>
        <p:txBody>
          <a:bodyPr>
            <a:normAutofit/>
          </a:bodyPr>
          <a:lstStyle/>
          <a:p>
            <a:pPr algn="ctr"/>
            <a:r>
              <a:rPr lang="en-IN" sz="3600" dirty="0"/>
              <a:t>Important Data</a:t>
            </a:r>
          </a:p>
        </p:txBody>
      </p:sp>
      <p:sp>
        <p:nvSpPr>
          <p:cNvPr id="3" name="Footer Placeholder 2">
            <a:extLst>
              <a:ext uri="{FF2B5EF4-FFF2-40B4-BE49-F238E27FC236}">
                <a16:creationId xmlns:a16="http://schemas.microsoft.com/office/drawing/2014/main" id="{D8F1FD25-5AAF-E25A-EDF2-B0163526B98F}"/>
              </a:ext>
            </a:extLst>
          </p:cNvPr>
          <p:cNvSpPr>
            <a:spLocks noGrp="1"/>
          </p:cNvSpPr>
          <p:nvPr>
            <p:ph type="ftr" idx="11"/>
          </p:nvPr>
        </p:nvSpPr>
        <p:spPr/>
        <p:txBody>
          <a:bodyPr/>
          <a:lstStyle/>
          <a:p>
            <a:r>
              <a:rPr lang="en-US"/>
              <a:t>PES's MCOE Department of Electrical Engineering (AY : 2022-23)</a:t>
            </a:r>
          </a:p>
        </p:txBody>
      </p:sp>
      <p:sp>
        <p:nvSpPr>
          <p:cNvPr id="4" name="Slide Number Placeholder 3">
            <a:extLst>
              <a:ext uri="{FF2B5EF4-FFF2-40B4-BE49-F238E27FC236}">
                <a16:creationId xmlns:a16="http://schemas.microsoft.com/office/drawing/2014/main" id="{157B9A9F-27B6-A994-F86E-D6D5A57145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5" name="Table 7">
            <a:extLst>
              <a:ext uri="{FF2B5EF4-FFF2-40B4-BE49-F238E27FC236}">
                <a16:creationId xmlns:a16="http://schemas.microsoft.com/office/drawing/2014/main" id="{F56F2EA6-B35F-C47F-8052-EA44430767F7}"/>
              </a:ext>
            </a:extLst>
          </p:cNvPr>
          <p:cNvGraphicFramePr>
            <a:graphicFrameLocks noGrp="1"/>
          </p:cNvGraphicFramePr>
          <p:nvPr>
            <p:extLst>
              <p:ext uri="{D42A27DB-BD31-4B8C-83A1-F6EECF244321}">
                <p14:modId xmlns:p14="http://schemas.microsoft.com/office/powerpoint/2010/main" val="1475094715"/>
              </p:ext>
            </p:extLst>
          </p:nvPr>
        </p:nvGraphicFramePr>
        <p:xfrm>
          <a:off x="412422" y="2035532"/>
          <a:ext cx="3914482" cy="2819270"/>
        </p:xfrm>
        <a:graphic>
          <a:graphicData uri="http://schemas.openxmlformats.org/drawingml/2006/table">
            <a:tbl>
              <a:tblPr firstRow="1" bandRow="1">
                <a:tableStyleId>{5C22544A-7EE6-4342-B048-85BDC9FD1C3A}</a:tableStyleId>
              </a:tblPr>
              <a:tblGrid>
                <a:gridCol w="1957241">
                  <a:extLst>
                    <a:ext uri="{9D8B030D-6E8A-4147-A177-3AD203B41FA5}">
                      <a16:colId xmlns:a16="http://schemas.microsoft.com/office/drawing/2014/main" val="4157203506"/>
                    </a:ext>
                  </a:extLst>
                </a:gridCol>
                <a:gridCol w="1957241">
                  <a:extLst>
                    <a:ext uri="{9D8B030D-6E8A-4147-A177-3AD203B41FA5}">
                      <a16:colId xmlns:a16="http://schemas.microsoft.com/office/drawing/2014/main" val="588882237"/>
                    </a:ext>
                  </a:extLst>
                </a:gridCol>
              </a:tblGrid>
              <a:tr h="400568">
                <a:tc>
                  <a:txBody>
                    <a:bodyPr/>
                    <a:lstStyle/>
                    <a:p>
                      <a:r>
                        <a:rPr lang="en-IN" dirty="0"/>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Rating and costing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5751856"/>
                  </a:ext>
                </a:extLst>
              </a:tr>
              <a:tr h="487359">
                <a:tc>
                  <a:txBody>
                    <a:bodyPr/>
                    <a:lstStyle/>
                    <a:p>
                      <a:r>
                        <a:rPr lang="en-IN" dirty="0"/>
                        <a:t>Solar PV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 kw (Rs. 32000)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398606"/>
                  </a:ext>
                </a:extLst>
              </a:tr>
              <a:tr h="487359">
                <a:tc>
                  <a:txBody>
                    <a:bodyPr/>
                    <a:lstStyle/>
                    <a:p>
                      <a:r>
                        <a:rPr lang="en-IN" dirty="0"/>
                        <a:t>Wind Turbine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1.5 kw (Rs. 260000)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59511"/>
                  </a:ext>
                </a:extLst>
              </a:tr>
              <a:tr h="487359">
                <a:tc>
                  <a:txBody>
                    <a:bodyPr/>
                    <a:lstStyle/>
                    <a:p>
                      <a:r>
                        <a:rPr lang="en-IN" dirty="0"/>
                        <a:t>Single phase inverter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7.5 kw (Rs. 125000)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8992177"/>
                  </a:ext>
                </a:extLst>
              </a:tr>
              <a:tr h="956625">
                <a:tc>
                  <a:txBody>
                    <a:bodyPr/>
                    <a:lstStyle/>
                    <a:p>
                      <a:r>
                        <a:rPr lang="en-IN" dirty="0"/>
                        <a:t>Battery (Lead Acid)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12v,200amph (quantity-10) (Rs. 110000)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801305"/>
                  </a:ext>
                </a:extLst>
              </a:tr>
            </a:tbl>
          </a:graphicData>
        </a:graphic>
      </p:graphicFrame>
      <p:pic>
        <p:nvPicPr>
          <p:cNvPr id="6" name="Picture 5">
            <a:extLst>
              <a:ext uri="{FF2B5EF4-FFF2-40B4-BE49-F238E27FC236}">
                <a16:creationId xmlns:a16="http://schemas.microsoft.com/office/drawing/2014/main" id="{6707F99D-0771-ED91-51A8-85B0D8018A31}"/>
              </a:ext>
            </a:extLst>
          </p:cNvPr>
          <p:cNvPicPr>
            <a:picLocks noChangeAspect="1"/>
          </p:cNvPicPr>
          <p:nvPr/>
        </p:nvPicPr>
        <p:blipFill rotWithShape="1">
          <a:blip r:embed="rId2"/>
          <a:srcRect l="3338"/>
          <a:stretch/>
        </p:blipFill>
        <p:spPr>
          <a:xfrm>
            <a:off x="4817098" y="2035532"/>
            <a:ext cx="3619892" cy="2819269"/>
          </a:xfrm>
          <a:prstGeom prst="rect">
            <a:avLst/>
          </a:prstGeom>
          <a:ln>
            <a:solidFill>
              <a:schemeClr val="tx1"/>
            </a:solidFill>
          </a:ln>
        </p:spPr>
      </p:pic>
      <p:sp>
        <p:nvSpPr>
          <p:cNvPr id="9" name="TextBox 8">
            <a:extLst>
              <a:ext uri="{FF2B5EF4-FFF2-40B4-BE49-F238E27FC236}">
                <a16:creationId xmlns:a16="http://schemas.microsoft.com/office/drawing/2014/main" id="{043325C6-CDC7-7F49-034A-2A4C901B7949}"/>
              </a:ext>
            </a:extLst>
          </p:cNvPr>
          <p:cNvSpPr txBox="1"/>
          <p:nvPr/>
        </p:nvSpPr>
        <p:spPr>
          <a:xfrm>
            <a:off x="5365815" y="5143910"/>
            <a:ext cx="3167406"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Electrical Load Parameters</a:t>
            </a:r>
          </a:p>
        </p:txBody>
      </p:sp>
      <p:sp>
        <p:nvSpPr>
          <p:cNvPr id="10" name="TextBox 9">
            <a:extLst>
              <a:ext uri="{FF2B5EF4-FFF2-40B4-BE49-F238E27FC236}">
                <a16:creationId xmlns:a16="http://schemas.microsoft.com/office/drawing/2014/main" id="{0E305D6C-7B88-01C5-95C8-60CC5E4991CE}"/>
              </a:ext>
            </a:extLst>
          </p:cNvPr>
          <p:cNvSpPr txBox="1"/>
          <p:nvPr/>
        </p:nvSpPr>
        <p:spPr>
          <a:xfrm>
            <a:off x="789497" y="5143910"/>
            <a:ext cx="3167406"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Rating of Used Components</a:t>
            </a:r>
          </a:p>
        </p:txBody>
      </p:sp>
    </p:spTree>
    <p:extLst>
      <p:ext uri="{BB962C8B-B14F-4D97-AF65-F5344CB8AC3E}">
        <p14:creationId xmlns:p14="http://schemas.microsoft.com/office/powerpoint/2010/main" val="3498236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70F1E3-3D82-A5E5-854C-00C08C55A904}"/>
              </a:ext>
            </a:extLst>
          </p:cNvPr>
          <p:cNvSpPr>
            <a:spLocks noGrp="1"/>
          </p:cNvSpPr>
          <p:nvPr>
            <p:ph type="ftr" idx="11"/>
          </p:nvPr>
        </p:nvSpPr>
        <p:spPr>
          <a:xfrm>
            <a:off x="2657572" y="6492875"/>
            <a:ext cx="4469091" cy="365125"/>
          </a:xfrm>
        </p:spPr>
        <p:txBody>
          <a:bodyPr/>
          <a:lstStyle/>
          <a:p>
            <a:r>
              <a:rPr lang="en-US" dirty="0"/>
              <a:t>PES's MCOE Department of Electrical Engineering (AY : 2022-23)</a:t>
            </a:r>
          </a:p>
        </p:txBody>
      </p:sp>
      <p:sp>
        <p:nvSpPr>
          <p:cNvPr id="4" name="Slide Number Placeholder 3">
            <a:extLst>
              <a:ext uri="{FF2B5EF4-FFF2-40B4-BE49-F238E27FC236}">
                <a16:creationId xmlns:a16="http://schemas.microsoft.com/office/drawing/2014/main" id="{B2877A51-493C-8428-A938-9F0F5023C3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graphicFrame>
        <p:nvGraphicFramePr>
          <p:cNvPr id="9" name="Chart 8">
            <a:extLst>
              <a:ext uri="{FF2B5EF4-FFF2-40B4-BE49-F238E27FC236}">
                <a16:creationId xmlns:a16="http://schemas.microsoft.com/office/drawing/2014/main" id="{A9A6BB02-7C93-AC57-500A-6C689851FAB2}"/>
              </a:ext>
            </a:extLst>
          </p:cNvPr>
          <p:cNvGraphicFramePr/>
          <p:nvPr>
            <p:extLst>
              <p:ext uri="{D42A27DB-BD31-4B8C-83A1-F6EECF244321}">
                <p14:modId xmlns:p14="http://schemas.microsoft.com/office/powerpoint/2010/main" val="1764743749"/>
              </p:ext>
            </p:extLst>
          </p:nvPr>
        </p:nvGraphicFramePr>
        <p:xfrm>
          <a:off x="386499" y="915418"/>
          <a:ext cx="6259398" cy="281759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0297F93F-E099-94D6-7FF1-7184B71FEA18}"/>
              </a:ext>
            </a:extLst>
          </p:cNvPr>
          <p:cNvSpPr txBox="1"/>
          <p:nvPr/>
        </p:nvSpPr>
        <p:spPr>
          <a:xfrm>
            <a:off x="6834433" y="2118511"/>
            <a:ext cx="2055043" cy="400110"/>
          </a:xfrm>
          <a:prstGeom prst="rect">
            <a:avLst/>
          </a:prstGeom>
          <a:noFill/>
        </p:spPr>
        <p:txBody>
          <a:bodyPr wrap="square" rtlCol="0">
            <a:spAutoFit/>
          </a:bodyPr>
          <a:lstStyle/>
          <a:p>
            <a:r>
              <a:rPr lang="en-IN" sz="2000" b="1" u="sng" dirty="0">
                <a:latin typeface="Times New Roman" panose="02020603050405020304" pitchFamily="18" charset="0"/>
                <a:cs typeface="Times New Roman" panose="02020603050405020304" pitchFamily="18" charset="0"/>
              </a:rPr>
              <a:t>Daily load curve</a:t>
            </a:r>
          </a:p>
        </p:txBody>
      </p:sp>
      <p:sp>
        <p:nvSpPr>
          <p:cNvPr id="14" name="TextBox 13">
            <a:extLst>
              <a:ext uri="{FF2B5EF4-FFF2-40B4-BE49-F238E27FC236}">
                <a16:creationId xmlns:a16="http://schemas.microsoft.com/office/drawing/2014/main" id="{515718C6-EDC5-5A63-477B-14EE2932F753}"/>
              </a:ext>
            </a:extLst>
          </p:cNvPr>
          <p:cNvSpPr txBox="1"/>
          <p:nvPr/>
        </p:nvSpPr>
        <p:spPr>
          <a:xfrm>
            <a:off x="6897278" y="4825575"/>
            <a:ext cx="1860223" cy="707886"/>
          </a:xfrm>
          <a:prstGeom prst="rect">
            <a:avLst/>
          </a:prstGeom>
          <a:noFill/>
        </p:spPr>
        <p:txBody>
          <a:bodyPr wrap="square" rtlCol="0">
            <a:spAutoFit/>
          </a:bodyPr>
          <a:lstStyle/>
          <a:p>
            <a:r>
              <a:rPr lang="en-IN" sz="2000" b="1" u="sng" dirty="0">
                <a:latin typeface="Times New Roman" panose="02020603050405020304" pitchFamily="18" charset="0"/>
                <a:cs typeface="Times New Roman" panose="02020603050405020304" pitchFamily="18" charset="0"/>
              </a:rPr>
              <a:t>Annual  load curve</a:t>
            </a:r>
          </a:p>
        </p:txBody>
      </p:sp>
      <p:pic>
        <p:nvPicPr>
          <p:cNvPr id="20" name="Picture 19">
            <a:extLst>
              <a:ext uri="{FF2B5EF4-FFF2-40B4-BE49-F238E27FC236}">
                <a16:creationId xmlns:a16="http://schemas.microsoft.com/office/drawing/2014/main" id="{28659128-7E27-C251-F661-5E7D3114468C}"/>
              </a:ext>
            </a:extLst>
          </p:cNvPr>
          <p:cNvPicPr>
            <a:picLocks noChangeAspect="1"/>
          </p:cNvPicPr>
          <p:nvPr/>
        </p:nvPicPr>
        <p:blipFill>
          <a:blip r:embed="rId3"/>
          <a:stretch>
            <a:fillRect/>
          </a:stretch>
        </p:blipFill>
        <p:spPr>
          <a:xfrm>
            <a:off x="386497" y="3902697"/>
            <a:ext cx="6259398" cy="2366127"/>
          </a:xfrm>
          <a:prstGeom prst="rect">
            <a:avLst/>
          </a:prstGeom>
          <a:ln>
            <a:solidFill>
              <a:schemeClr val="tx1"/>
            </a:solidFill>
          </a:ln>
        </p:spPr>
      </p:pic>
    </p:spTree>
    <p:extLst>
      <p:ext uri="{BB962C8B-B14F-4D97-AF65-F5344CB8AC3E}">
        <p14:creationId xmlns:p14="http://schemas.microsoft.com/office/powerpoint/2010/main" val="2533016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BFF5-F005-817D-E1D2-BB2CEB017A74}"/>
              </a:ext>
            </a:extLst>
          </p:cNvPr>
          <p:cNvSpPr>
            <a:spLocks noGrp="1"/>
          </p:cNvSpPr>
          <p:nvPr>
            <p:ph type="title"/>
          </p:nvPr>
        </p:nvSpPr>
        <p:spPr>
          <a:xfrm>
            <a:off x="2697048" y="624383"/>
            <a:ext cx="3749904" cy="461348"/>
          </a:xfrm>
        </p:spPr>
        <p:txBody>
          <a:bodyPr>
            <a:normAutofit fontScale="90000"/>
          </a:bodyPr>
          <a:lstStyle/>
          <a:p>
            <a:pPr algn="ctr"/>
            <a:r>
              <a:rPr lang="en-IN" sz="2800" dirty="0">
                <a:solidFill>
                  <a:schemeClr val="tx2">
                    <a:lumMod val="25000"/>
                  </a:schemeClr>
                </a:solidFill>
                <a:latin typeface="Times New Roman" panose="02020603050405020304" pitchFamily="18" charset="0"/>
                <a:cs typeface="Times New Roman" panose="02020603050405020304" pitchFamily="18" charset="0"/>
              </a:rPr>
              <a:t>Solar and wind data</a:t>
            </a:r>
          </a:p>
        </p:txBody>
      </p:sp>
      <p:sp>
        <p:nvSpPr>
          <p:cNvPr id="3" name="Footer Placeholder 2">
            <a:extLst>
              <a:ext uri="{FF2B5EF4-FFF2-40B4-BE49-F238E27FC236}">
                <a16:creationId xmlns:a16="http://schemas.microsoft.com/office/drawing/2014/main" id="{EDDF0759-2569-846D-D5C3-2D9F62E527C4}"/>
              </a:ext>
            </a:extLst>
          </p:cNvPr>
          <p:cNvSpPr>
            <a:spLocks noGrp="1"/>
          </p:cNvSpPr>
          <p:nvPr>
            <p:ph type="ftr" idx="11"/>
          </p:nvPr>
        </p:nvSpPr>
        <p:spPr>
          <a:xfrm>
            <a:off x="1555423" y="6492875"/>
            <a:ext cx="4992278" cy="365125"/>
          </a:xfrm>
        </p:spPr>
        <p:txBody>
          <a:bodyPr/>
          <a:lstStyle/>
          <a:p>
            <a:r>
              <a:rPr lang="en-US" dirty="0"/>
              <a:t>PES's MCOE Department of Electrical Engineering (AY : 2022-23)</a:t>
            </a:r>
          </a:p>
        </p:txBody>
      </p:sp>
      <p:sp>
        <p:nvSpPr>
          <p:cNvPr id="4" name="Slide Number Placeholder 3">
            <a:extLst>
              <a:ext uri="{FF2B5EF4-FFF2-40B4-BE49-F238E27FC236}">
                <a16:creationId xmlns:a16="http://schemas.microsoft.com/office/drawing/2014/main" id="{8C051DD4-AD29-7F3C-5812-23DF6BD29C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7" name="TextBox 6">
            <a:extLst>
              <a:ext uri="{FF2B5EF4-FFF2-40B4-BE49-F238E27FC236}">
                <a16:creationId xmlns:a16="http://schemas.microsoft.com/office/drawing/2014/main" id="{89641E89-A254-C808-EDDC-C6996A95BED2}"/>
              </a:ext>
            </a:extLst>
          </p:cNvPr>
          <p:cNvSpPr txBox="1"/>
          <p:nvPr/>
        </p:nvSpPr>
        <p:spPr>
          <a:xfrm>
            <a:off x="6306532" y="1960775"/>
            <a:ext cx="230956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Solar Radiation</a:t>
            </a:r>
          </a:p>
        </p:txBody>
      </p:sp>
      <p:sp>
        <p:nvSpPr>
          <p:cNvPr id="9" name="TextBox 8">
            <a:extLst>
              <a:ext uri="{FF2B5EF4-FFF2-40B4-BE49-F238E27FC236}">
                <a16:creationId xmlns:a16="http://schemas.microsoft.com/office/drawing/2014/main" id="{490A1C44-ADF0-AC21-582A-3B93285E9DF6}"/>
              </a:ext>
            </a:extLst>
          </p:cNvPr>
          <p:cNvSpPr txBox="1"/>
          <p:nvPr/>
        </p:nvSpPr>
        <p:spPr>
          <a:xfrm>
            <a:off x="617946" y="4877762"/>
            <a:ext cx="183822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Wind Speed</a:t>
            </a:r>
          </a:p>
        </p:txBody>
      </p:sp>
      <p:pic>
        <p:nvPicPr>
          <p:cNvPr id="16" name="Picture 15">
            <a:extLst>
              <a:ext uri="{FF2B5EF4-FFF2-40B4-BE49-F238E27FC236}">
                <a16:creationId xmlns:a16="http://schemas.microsoft.com/office/drawing/2014/main" id="{54291CE6-037F-2DCD-949B-1C6FB3A015CA}"/>
              </a:ext>
            </a:extLst>
          </p:cNvPr>
          <p:cNvPicPr>
            <a:picLocks noChangeAspect="1"/>
          </p:cNvPicPr>
          <p:nvPr/>
        </p:nvPicPr>
        <p:blipFill>
          <a:blip r:embed="rId2"/>
          <a:stretch>
            <a:fillRect/>
          </a:stretch>
        </p:blipFill>
        <p:spPr>
          <a:xfrm>
            <a:off x="2697048" y="3794091"/>
            <a:ext cx="5683381" cy="2567453"/>
          </a:xfrm>
          <a:prstGeom prst="rect">
            <a:avLst/>
          </a:prstGeom>
          <a:ln>
            <a:solidFill>
              <a:schemeClr val="tx1"/>
            </a:solidFill>
          </a:ln>
        </p:spPr>
      </p:pic>
      <p:sp>
        <p:nvSpPr>
          <p:cNvPr id="17" name="TextBox 16">
            <a:extLst>
              <a:ext uri="{FF2B5EF4-FFF2-40B4-BE49-F238E27FC236}">
                <a16:creationId xmlns:a16="http://schemas.microsoft.com/office/drawing/2014/main" id="{5FE4A0F2-A5F8-D652-DBFA-C631B237B72B}"/>
              </a:ext>
            </a:extLst>
          </p:cNvPr>
          <p:cNvSpPr txBox="1"/>
          <p:nvPr/>
        </p:nvSpPr>
        <p:spPr>
          <a:xfrm>
            <a:off x="429411" y="5221064"/>
            <a:ext cx="2107871" cy="461665"/>
          </a:xfrm>
          <a:prstGeom prst="rect">
            <a:avLst/>
          </a:prstGeom>
          <a:noFill/>
          <a:ln>
            <a:solidFill>
              <a:schemeClr val="accent1"/>
            </a:solidFill>
          </a:ln>
        </p:spPr>
        <p:txBody>
          <a:bodyPr wrap="square" rtlCol="0">
            <a:spAutoFit/>
          </a:bodyPr>
          <a:lstStyle/>
          <a:p>
            <a:r>
              <a:rPr lang="en-IN" sz="1200" dirty="0"/>
              <a:t>Average wind speed (annual) = </a:t>
            </a:r>
            <a:r>
              <a:rPr lang="en-IN" sz="1200" b="1" dirty="0"/>
              <a:t>5.44 m/s</a:t>
            </a:r>
          </a:p>
        </p:txBody>
      </p:sp>
      <p:cxnSp>
        <p:nvCxnSpPr>
          <p:cNvPr id="21" name="Straight Connector 20">
            <a:extLst>
              <a:ext uri="{FF2B5EF4-FFF2-40B4-BE49-F238E27FC236}">
                <a16:creationId xmlns:a16="http://schemas.microsoft.com/office/drawing/2014/main" id="{B3285C67-1999-7233-C4D0-432A4A5F332D}"/>
              </a:ext>
            </a:extLst>
          </p:cNvPr>
          <p:cNvCxnSpPr>
            <a:cxnSpLocks/>
          </p:cNvCxnSpPr>
          <p:nvPr/>
        </p:nvCxnSpPr>
        <p:spPr>
          <a:xfrm>
            <a:off x="3318235" y="4830627"/>
            <a:ext cx="4835951"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9113BE3-7DBF-9882-5C4D-02EBF0362F4A}"/>
              </a:ext>
            </a:extLst>
          </p:cNvPr>
          <p:cNvSpPr txBox="1"/>
          <p:nvPr/>
        </p:nvSpPr>
        <p:spPr>
          <a:xfrm>
            <a:off x="6627043" y="4497744"/>
            <a:ext cx="1137501" cy="215444"/>
          </a:xfrm>
          <a:prstGeom prst="rect">
            <a:avLst/>
          </a:prstGeom>
          <a:noFill/>
        </p:spPr>
        <p:txBody>
          <a:bodyPr wrap="square" rtlCol="0">
            <a:spAutoFit/>
          </a:bodyPr>
          <a:lstStyle/>
          <a:p>
            <a:r>
              <a:rPr lang="en-IN" sz="800" dirty="0">
                <a:solidFill>
                  <a:schemeClr val="tx2">
                    <a:lumMod val="25000"/>
                  </a:schemeClr>
                </a:solidFill>
              </a:rPr>
              <a:t>Average wind speed</a:t>
            </a:r>
          </a:p>
        </p:txBody>
      </p:sp>
      <p:sp>
        <p:nvSpPr>
          <p:cNvPr id="24" name="TextBox 23">
            <a:extLst>
              <a:ext uri="{FF2B5EF4-FFF2-40B4-BE49-F238E27FC236}">
                <a16:creationId xmlns:a16="http://schemas.microsoft.com/office/drawing/2014/main" id="{BE51B4B7-4828-D277-42EB-BBB92EA356D1}"/>
              </a:ext>
            </a:extLst>
          </p:cNvPr>
          <p:cNvSpPr txBox="1"/>
          <p:nvPr/>
        </p:nvSpPr>
        <p:spPr>
          <a:xfrm>
            <a:off x="6310198" y="2360885"/>
            <a:ext cx="2026763" cy="600164"/>
          </a:xfrm>
          <a:prstGeom prst="rect">
            <a:avLst/>
          </a:prstGeom>
          <a:noFill/>
          <a:ln>
            <a:solidFill>
              <a:schemeClr val="accent1"/>
            </a:solidFill>
          </a:ln>
        </p:spPr>
        <p:txBody>
          <a:bodyPr wrap="square" rtlCol="0">
            <a:spAutoFit/>
          </a:bodyPr>
          <a:lstStyle/>
          <a:p>
            <a:r>
              <a:rPr lang="en-IN" sz="1100" dirty="0"/>
              <a:t>Average solar Radiation </a:t>
            </a:r>
          </a:p>
          <a:p>
            <a:r>
              <a:rPr lang="en-IN" sz="1100" dirty="0"/>
              <a:t>(annual) = </a:t>
            </a:r>
            <a:r>
              <a:rPr lang="en-IN" sz="1100" b="1" dirty="0"/>
              <a:t>5.12 kWh/m2/day</a:t>
            </a:r>
          </a:p>
          <a:p>
            <a:r>
              <a:rPr lang="en-IN" sz="1100" b="1" dirty="0"/>
              <a:t> </a:t>
            </a:r>
            <a:r>
              <a:rPr lang="en-IN" sz="1100" dirty="0"/>
              <a:t>Clearance Index = </a:t>
            </a:r>
            <a:r>
              <a:rPr lang="en-IN" sz="1100" b="1" dirty="0"/>
              <a:t>0.549</a:t>
            </a:r>
          </a:p>
        </p:txBody>
      </p:sp>
      <p:pic>
        <p:nvPicPr>
          <p:cNvPr id="32" name="Picture 31">
            <a:extLst>
              <a:ext uri="{FF2B5EF4-FFF2-40B4-BE49-F238E27FC236}">
                <a16:creationId xmlns:a16="http://schemas.microsoft.com/office/drawing/2014/main" id="{EC380F0C-8DA8-A5D0-FB5A-34320B89DF02}"/>
              </a:ext>
            </a:extLst>
          </p:cNvPr>
          <p:cNvPicPr>
            <a:picLocks noChangeAspect="1"/>
          </p:cNvPicPr>
          <p:nvPr/>
        </p:nvPicPr>
        <p:blipFill>
          <a:blip r:embed="rId3"/>
          <a:stretch>
            <a:fillRect/>
          </a:stretch>
        </p:blipFill>
        <p:spPr>
          <a:xfrm>
            <a:off x="429410" y="1280207"/>
            <a:ext cx="5217245" cy="2252513"/>
          </a:xfrm>
          <a:prstGeom prst="rect">
            <a:avLst/>
          </a:prstGeom>
          <a:ln>
            <a:solidFill>
              <a:schemeClr val="tx1"/>
            </a:solidFill>
          </a:ln>
        </p:spPr>
      </p:pic>
    </p:spTree>
    <p:extLst>
      <p:ext uri="{BB962C8B-B14F-4D97-AF65-F5344CB8AC3E}">
        <p14:creationId xmlns:p14="http://schemas.microsoft.com/office/powerpoint/2010/main" val="1992225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DE43CD-C628-74B9-78C0-40812E153C5A}"/>
              </a:ext>
            </a:extLst>
          </p:cNvPr>
          <p:cNvSpPr>
            <a:spLocks noGrp="1"/>
          </p:cNvSpPr>
          <p:nvPr>
            <p:ph type="ftr" idx="11"/>
          </p:nvPr>
        </p:nvSpPr>
        <p:spPr>
          <a:xfrm>
            <a:off x="2661508" y="6346185"/>
            <a:ext cx="3352800" cy="365125"/>
          </a:xfrm>
        </p:spPr>
        <p:txBody>
          <a:bodyPr/>
          <a:lstStyle/>
          <a:p>
            <a:r>
              <a:rPr lang="en-US" dirty="0"/>
              <a:t>PES's MCOE Department of Electrical Engineering (AY : 2022-23)</a:t>
            </a:r>
          </a:p>
        </p:txBody>
      </p:sp>
      <p:sp>
        <p:nvSpPr>
          <p:cNvPr id="4" name="Slide Number Placeholder 3">
            <a:extLst>
              <a:ext uri="{FF2B5EF4-FFF2-40B4-BE49-F238E27FC236}">
                <a16:creationId xmlns:a16="http://schemas.microsoft.com/office/drawing/2014/main" id="{581AA7D0-28D2-A7CB-3744-8063D212E0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10" name="TextBox 9">
            <a:extLst>
              <a:ext uri="{FF2B5EF4-FFF2-40B4-BE49-F238E27FC236}">
                <a16:creationId xmlns:a16="http://schemas.microsoft.com/office/drawing/2014/main" id="{ECE1899B-4EF7-7D3B-894E-0517F2836058}"/>
              </a:ext>
            </a:extLst>
          </p:cNvPr>
          <p:cNvSpPr txBox="1"/>
          <p:nvPr/>
        </p:nvSpPr>
        <p:spPr>
          <a:xfrm>
            <a:off x="1505415" y="752706"/>
            <a:ext cx="7404410" cy="584775"/>
          </a:xfrm>
          <a:prstGeom prst="rect">
            <a:avLst/>
          </a:prstGeom>
          <a:noFill/>
        </p:spPr>
        <p:txBody>
          <a:bodyPr wrap="square" rtlCol="0">
            <a:spAutoFit/>
          </a:bodyPr>
          <a:lstStyle/>
          <a:p>
            <a:r>
              <a:rPr lang="en-IN" sz="3200" dirty="0">
                <a:solidFill>
                  <a:schemeClr val="bg2">
                    <a:lumMod val="75000"/>
                  </a:schemeClr>
                </a:solidFill>
              </a:rPr>
              <a:t>Results without Homer Optimisation</a:t>
            </a:r>
          </a:p>
        </p:txBody>
      </p:sp>
      <p:pic>
        <p:nvPicPr>
          <p:cNvPr id="12" name="Picture 11">
            <a:extLst>
              <a:ext uri="{FF2B5EF4-FFF2-40B4-BE49-F238E27FC236}">
                <a16:creationId xmlns:a16="http://schemas.microsoft.com/office/drawing/2014/main" id="{FDC89256-24D0-4D4C-51E8-18DF604CF5F6}"/>
              </a:ext>
            </a:extLst>
          </p:cNvPr>
          <p:cNvPicPr>
            <a:picLocks noChangeAspect="1"/>
          </p:cNvPicPr>
          <p:nvPr/>
        </p:nvPicPr>
        <p:blipFill rotWithShape="1">
          <a:blip r:embed="rId3"/>
          <a:srcRect r="13828"/>
          <a:stretch/>
        </p:blipFill>
        <p:spPr>
          <a:xfrm>
            <a:off x="1644756" y="1337481"/>
            <a:ext cx="5795471" cy="3693866"/>
          </a:xfrm>
          <a:prstGeom prst="rect">
            <a:avLst/>
          </a:prstGeom>
          <a:ln>
            <a:solidFill>
              <a:schemeClr val="tx1"/>
            </a:solidFill>
          </a:ln>
        </p:spPr>
      </p:pic>
      <p:sp>
        <p:nvSpPr>
          <p:cNvPr id="13" name="TextBox 12">
            <a:extLst>
              <a:ext uri="{FF2B5EF4-FFF2-40B4-BE49-F238E27FC236}">
                <a16:creationId xmlns:a16="http://schemas.microsoft.com/office/drawing/2014/main" id="{72E26C7F-6B5A-A451-1AE5-EAE2B5322250}"/>
              </a:ext>
            </a:extLst>
          </p:cNvPr>
          <p:cNvSpPr txBox="1"/>
          <p:nvPr/>
        </p:nvSpPr>
        <p:spPr>
          <a:xfrm>
            <a:off x="1644756" y="5120384"/>
            <a:ext cx="4772159" cy="1169551"/>
          </a:xfrm>
          <a:prstGeom prst="rect">
            <a:avLst/>
          </a:prstGeom>
          <a:noFill/>
          <a:ln w="0">
            <a:solidFill>
              <a:schemeClr val="tx1"/>
            </a:solidFill>
          </a:ln>
        </p:spPr>
        <p:txBody>
          <a:bodyPr wrap="square" rtlCol="0">
            <a:spAutoFit/>
          </a:bodyPr>
          <a:lstStyle/>
          <a:p>
            <a:r>
              <a:rPr lang="en-IN" b="1" dirty="0">
                <a:latin typeface="Times New Roman" panose="02020603050405020304" pitchFamily="18" charset="0"/>
                <a:cs typeface="Times New Roman" panose="02020603050405020304" pitchFamily="18" charset="0"/>
              </a:rPr>
              <a:t>G   </a:t>
            </a:r>
            <a:r>
              <a:rPr lang="en-IN" dirty="0">
                <a:latin typeface="Times New Roman" panose="02020603050405020304" pitchFamily="18" charset="0"/>
                <a:cs typeface="Times New Roman" panose="02020603050405020304" pitchFamily="18" charset="0"/>
              </a:rPr>
              <a:t> = Grid ( 220V, 50Hz, Single phase, Residencial )</a:t>
            </a:r>
          </a:p>
          <a:p>
            <a:r>
              <a:rPr lang="en-IN" b="1" dirty="0">
                <a:latin typeface="Times New Roman" panose="02020603050405020304" pitchFamily="18" charset="0"/>
                <a:cs typeface="Times New Roman" panose="02020603050405020304" pitchFamily="18" charset="0"/>
              </a:rPr>
              <a:t>W</a:t>
            </a:r>
            <a:r>
              <a:rPr lang="en-IN" dirty="0">
                <a:latin typeface="Times New Roman" panose="02020603050405020304" pitchFamily="18" charset="0"/>
                <a:cs typeface="Times New Roman" panose="02020603050405020304" pitchFamily="18" charset="0"/>
              </a:rPr>
              <a:t>   = Wind (1.5 Kw ).</a:t>
            </a:r>
          </a:p>
          <a:p>
            <a:r>
              <a:rPr lang="en-IN" b="1" dirty="0">
                <a:latin typeface="Times New Roman" panose="02020603050405020304" pitchFamily="18" charset="0"/>
                <a:cs typeface="Times New Roman" panose="02020603050405020304" pitchFamily="18" charset="0"/>
              </a:rPr>
              <a:t>PV </a:t>
            </a:r>
            <a:r>
              <a:rPr lang="en-IN" dirty="0">
                <a:latin typeface="Times New Roman" panose="02020603050405020304" pitchFamily="18" charset="0"/>
                <a:cs typeface="Times New Roman" panose="02020603050405020304" pitchFamily="18" charset="0"/>
              </a:rPr>
              <a:t>= Solar (1 Kw ).</a:t>
            </a:r>
          </a:p>
          <a:p>
            <a:r>
              <a:rPr lang="en-IN" b="1" dirty="0">
                <a:latin typeface="Times New Roman" panose="02020603050405020304" pitchFamily="18" charset="0"/>
                <a:cs typeface="Times New Roman" panose="02020603050405020304" pitchFamily="18" charset="0"/>
              </a:rPr>
              <a:t>F</a:t>
            </a:r>
            <a:r>
              <a:rPr lang="en-IN" dirty="0">
                <a:latin typeface="Times New Roman" panose="02020603050405020304" pitchFamily="18" charset="0"/>
                <a:cs typeface="Times New Roman" panose="02020603050405020304" pitchFamily="18" charset="0"/>
              </a:rPr>
              <a:t>    = Fuel Cell ( 500 watts )</a:t>
            </a:r>
          </a:p>
          <a:p>
            <a:r>
              <a:rPr lang="en-IN" b="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 Battery ( 10 battery , 12V , 200 Amp-hr.)</a:t>
            </a:r>
          </a:p>
        </p:txBody>
      </p:sp>
    </p:spTree>
    <p:extLst>
      <p:ext uri="{BB962C8B-B14F-4D97-AF65-F5344CB8AC3E}">
        <p14:creationId xmlns:p14="http://schemas.microsoft.com/office/powerpoint/2010/main" val="1379650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03FF13-DF1B-B28A-804B-997A73FF0543}"/>
              </a:ext>
            </a:extLst>
          </p:cNvPr>
          <p:cNvSpPr>
            <a:spLocks noGrp="1"/>
          </p:cNvSpPr>
          <p:nvPr>
            <p:ph type="ftr" idx="11"/>
          </p:nvPr>
        </p:nvSpPr>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5A2E120E-E905-5A50-60E3-4E0FA6E456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24" name="TextBox 23">
            <a:extLst>
              <a:ext uri="{FF2B5EF4-FFF2-40B4-BE49-F238E27FC236}">
                <a16:creationId xmlns:a16="http://schemas.microsoft.com/office/drawing/2014/main" id="{9CE3F94C-B033-8A29-AB88-72C09912EB42}"/>
              </a:ext>
            </a:extLst>
          </p:cNvPr>
          <p:cNvSpPr txBox="1"/>
          <p:nvPr/>
        </p:nvSpPr>
        <p:spPr>
          <a:xfrm>
            <a:off x="1628272" y="853440"/>
            <a:ext cx="6370320" cy="523220"/>
          </a:xfrm>
          <a:prstGeom prst="rect">
            <a:avLst/>
          </a:prstGeom>
          <a:noFill/>
        </p:spPr>
        <p:txBody>
          <a:bodyPr wrap="square" rtlCol="0">
            <a:spAutoFit/>
          </a:bodyPr>
          <a:lstStyle/>
          <a:p>
            <a:pPr algn="ctr"/>
            <a:r>
              <a:rPr lang="en-IN" sz="2800" dirty="0">
                <a:solidFill>
                  <a:schemeClr val="bg2">
                    <a:lumMod val="75000"/>
                  </a:schemeClr>
                </a:solidFill>
              </a:rPr>
              <a:t>Result Graphs</a:t>
            </a:r>
          </a:p>
        </p:txBody>
      </p:sp>
      <p:graphicFrame>
        <p:nvGraphicFramePr>
          <p:cNvPr id="6" name="Chart 5">
            <a:extLst>
              <a:ext uri="{FF2B5EF4-FFF2-40B4-BE49-F238E27FC236}">
                <a16:creationId xmlns:a16="http://schemas.microsoft.com/office/drawing/2014/main" id="{6D457890-E949-3AF2-A67E-1F3C2347D9AF}"/>
              </a:ext>
            </a:extLst>
          </p:cNvPr>
          <p:cNvGraphicFramePr/>
          <p:nvPr>
            <p:extLst>
              <p:ext uri="{D42A27DB-BD31-4B8C-83A1-F6EECF244321}">
                <p14:modId xmlns:p14="http://schemas.microsoft.com/office/powerpoint/2010/main" val="612098194"/>
              </p:ext>
            </p:extLst>
          </p:nvPr>
        </p:nvGraphicFramePr>
        <p:xfrm>
          <a:off x="4147794" y="2018220"/>
          <a:ext cx="4751109" cy="38923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A4564B9C-BE05-F3F7-7DF6-FAF50EE082B6}"/>
              </a:ext>
            </a:extLst>
          </p:cNvPr>
          <p:cNvGraphicFramePr/>
          <p:nvPr>
            <p:extLst>
              <p:ext uri="{D42A27DB-BD31-4B8C-83A1-F6EECF244321}">
                <p14:modId xmlns:p14="http://schemas.microsoft.com/office/powerpoint/2010/main" val="2258128172"/>
              </p:ext>
            </p:extLst>
          </p:nvPr>
        </p:nvGraphicFramePr>
        <p:xfrm>
          <a:off x="752574" y="2018221"/>
          <a:ext cx="3264816" cy="353321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00937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06284A-CBC2-A26A-7265-204A874BE535}"/>
              </a:ext>
            </a:extLst>
          </p:cNvPr>
          <p:cNvSpPr>
            <a:spLocks noGrp="1"/>
          </p:cNvSpPr>
          <p:nvPr>
            <p:ph type="ftr" idx="11"/>
          </p:nvPr>
        </p:nvSpPr>
        <p:spPr>
          <a:xfrm>
            <a:off x="2179582" y="6356349"/>
            <a:ext cx="4520938" cy="365125"/>
          </a:xfrm>
        </p:spPr>
        <p:txBody>
          <a:bodyPr/>
          <a:lstStyle/>
          <a:p>
            <a:r>
              <a:rPr lang="en-US" dirty="0"/>
              <a:t>PES's MCOE Department of Electrical Engineering (AY : 2022-23)</a:t>
            </a:r>
          </a:p>
        </p:txBody>
      </p:sp>
      <p:sp>
        <p:nvSpPr>
          <p:cNvPr id="3" name="Slide Number Placeholder 2">
            <a:extLst>
              <a:ext uri="{FF2B5EF4-FFF2-40B4-BE49-F238E27FC236}">
                <a16:creationId xmlns:a16="http://schemas.microsoft.com/office/drawing/2014/main" id="{D56FEDCC-A399-C7FD-EAEF-D5A93E8778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TextBox 5">
            <a:extLst>
              <a:ext uri="{FF2B5EF4-FFF2-40B4-BE49-F238E27FC236}">
                <a16:creationId xmlns:a16="http://schemas.microsoft.com/office/drawing/2014/main" id="{5BD9CEED-656E-4822-E815-65E9961BB5EF}"/>
              </a:ext>
            </a:extLst>
          </p:cNvPr>
          <p:cNvSpPr txBox="1"/>
          <p:nvPr/>
        </p:nvSpPr>
        <p:spPr>
          <a:xfrm>
            <a:off x="2042160" y="890405"/>
            <a:ext cx="5957059" cy="584775"/>
          </a:xfrm>
          <a:prstGeom prst="rect">
            <a:avLst/>
          </a:prstGeom>
          <a:noFill/>
        </p:spPr>
        <p:txBody>
          <a:bodyPr wrap="square" rtlCol="0">
            <a:spAutoFit/>
          </a:bodyPr>
          <a:lstStyle/>
          <a:p>
            <a:pPr algn="ctr"/>
            <a:r>
              <a:rPr lang="en-IN" sz="3200" dirty="0">
                <a:solidFill>
                  <a:schemeClr val="bg2">
                    <a:lumMod val="75000"/>
                  </a:schemeClr>
                </a:solidFill>
                <a:latin typeface="Times New Roman" panose="02020603050405020304" pitchFamily="18" charset="0"/>
                <a:cs typeface="Times New Roman" panose="02020603050405020304" pitchFamily="18" charset="0"/>
              </a:rPr>
              <a:t>Monthly Electric Production Data </a:t>
            </a:r>
          </a:p>
        </p:txBody>
      </p:sp>
      <p:pic>
        <p:nvPicPr>
          <p:cNvPr id="13" name="Picture 12">
            <a:extLst>
              <a:ext uri="{FF2B5EF4-FFF2-40B4-BE49-F238E27FC236}">
                <a16:creationId xmlns:a16="http://schemas.microsoft.com/office/drawing/2014/main" id="{F8AD22CC-04E2-9492-B4FC-58CABA93E523}"/>
              </a:ext>
            </a:extLst>
          </p:cNvPr>
          <p:cNvPicPr>
            <a:picLocks noChangeAspect="1"/>
          </p:cNvPicPr>
          <p:nvPr/>
        </p:nvPicPr>
        <p:blipFill>
          <a:blip r:embed="rId2"/>
          <a:srcRect/>
          <a:stretch/>
        </p:blipFill>
        <p:spPr>
          <a:xfrm>
            <a:off x="1144267" y="2030582"/>
            <a:ext cx="6591568" cy="2510386"/>
          </a:xfrm>
          <a:prstGeom prst="rect">
            <a:avLst/>
          </a:prstGeom>
          <a:ln>
            <a:solidFill>
              <a:schemeClr val="tx1"/>
            </a:solidFill>
          </a:ln>
        </p:spPr>
      </p:pic>
      <p:sp>
        <p:nvSpPr>
          <p:cNvPr id="4" name="TextBox 3">
            <a:extLst>
              <a:ext uri="{FF2B5EF4-FFF2-40B4-BE49-F238E27FC236}">
                <a16:creationId xmlns:a16="http://schemas.microsoft.com/office/drawing/2014/main" id="{8A4DD60C-AA86-5CE5-AA42-E714429263C0}"/>
              </a:ext>
            </a:extLst>
          </p:cNvPr>
          <p:cNvSpPr txBox="1"/>
          <p:nvPr/>
        </p:nvSpPr>
        <p:spPr>
          <a:xfrm>
            <a:off x="1440180" y="4589146"/>
            <a:ext cx="6012180" cy="642620"/>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Component-wise annual Electrical energy production by each component (Case V, G+PV+W+FC+B, unoptimized)</a:t>
            </a:r>
          </a:p>
        </p:txBody>
      </p:sp>
    </p:spTree>
    <p:extLst>
      <p:ext uri="{BB962C8B-B14F-4D97-AF65-F5344CB8AC3E}">
        <p14:creationId xmlns:p14="http://schemas.microsoft.com/office/powerpoint/2010/main" val="2757375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AA766A-FCD0-F503-7968-D56B616280C2}"/>
              </a:ext>
            </a:extLst>
          </p:cNvPr>
          <p:cNvSpPr>
            <a:spLocks noGrp="1"/>
          </p:cNvSpPr>
          <p:nvPr>
            <p:ph type="ftr" idx="11"/>
          </p:nvPr>
        </p:nvSpPr>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925ABAF9-3D42-DF06-B382-A1DF63DC03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TextBox 4">
            <a:extLst>
              <a:ext uri="{FF2B5EF4-FFF2-40B4-BE49-F238E27FC236}">
                <a16:creationId xmlns:a16="http://schemas.microsoft.com/office/drawing/2014/main" id="{375FEE88-D3D0-359C-C0DD-C160F0E445EA}"/>
              </a:ext>
            </a:extLst>
          </p:cNvPr>
          <p:cNvSpPr txBox="1"/>
          <p:nvPr/>
        </p:nvSpPr>
        <p:spPr>
          <a:xfrm>
            <a:off x="1739590" y="1189586"/>
            <a:ext cx="7404410" cy="584775"/>
          </a:xfrm>
          <a:prstGeom prst="rect">
            <a:avLst/>
          </a:prstGeom>
          <a:noFill/>
        </p:spPr>
        <p:txBody>
          <a:bodyPr wrap="square" rtlCol="0">
            <a:spAutoFit/>
          </a:bodyPr>
          <a:lstStyle/>
          <a:p>
            <a:r>
              <a:rPr lang="en-IN" sz="3200" dirty="0">
                <a:solidFill>
                  <a:schemeClr val="bg2">
                    <a:lumMod val="75000"/>
                  </a:schemeClr>
                </a:solidFill>
              </a:rPr>
              <a:t>Results with Homer Optimisation</a:t>
            </a:r>
          </a:p>
        </p:txBody>
      </p:sp>
      <p:sp>
        <p:nvSpPr>
          <p:cNvPr id="7" name="TextBox 6">
            <a:extLst>
              <a:ext uri="{FF2B5EF4-FFF2-40B4-BE49-F238E27FC236}">
                <a16:creationId xmlns:a16="http://schemas.microsoft.com/office/drawing/2014/main" id="{1C6E5937-51F9-7A77-C278-6202644898BF}"/>
              </a:ext>
            </a:extLst>
          </p:cNvPr>
          <p:cNvSpPr txBox="1"/>
          <p:nvPr/>
        </p:nvSpPr>
        <p:spPr>
          <a:xfrm>
            <a:off x="2509520" y="5299082"/>
            <a:ext cx="7020560" cy="369332"/>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The above all cases are </a:t>
            </a:r>
            <a:r>
              <a:rPr lang="en-IN" sz="1800" b="1" u="sng" dirty="0">
                <a:latin typeface="Times New Roman" panose="02020603050405020304" pitchFamily="18" charset="0"/>
                <a:cs typeface="Times New Roman" panose="02020603050405020304" pitchFamily="18" charset="0"/>
              </a:rPr>
              <a:t>GRID</a:t>
            </a:r>
            <a:r>
              <a:rPr lang="en-IN" sz="1800" dirty="0">
                <a:latin typeface="Times New Roman" panose="02020603050405020304" pitchFamily="18" charset="0"/>
                <a:cs typeface="Times New Roman" panose="02020603050405020304" pitchFamily="18" charset="0"/>
              </a:rPr>
              <a:t> connected </a:t>
            </a:r>
          </a:p>
        </p:txBody>
      </p:sp>
      <p:graphicFrame>
        <p:nvGraphicFramePr>
          <p:cNvPr id="6" name="Table 5">
            <a:extLst>
              <a:ext uri="{FF2B5EF4-FFF2-40B4-BE49-F238E27FC236}">
                <a16:creationId xmlns:a16="http://schemas.microsoft.com/office/drawing/2014/main" id="{ACE923BA-84AE-378A-DF26-6F999DAA0FC3}"/>
              </a:ext>
            </a:extLst>
          </p:cNvPr>
          <p:cNvGraphicFramePr>
            <a:graphicFrameLocks noGrp="1"/>
          </p:cNvGraphicFramePr>
          <p:nvPr>
            <p:extLst>
              <p:ext uri="{D42A27DB-BD31-4B8C-83A1-F6EECF244321}">
                <p14:modId xmlns:p14="http://schemas.microsoft.com/office/powerpoint/2010/main" val="117741577"/>
              </p:ext>
            </p:extLst>
          </p:nvPr>
        </p:nvGraphicFramePr>
        <p:xfrm>
          <a:off x="716280" y="1912620"/>
          <a:ext cx="7749540" cy="3346538"/>
        </p:xfrm>
        <a:graphic>
          <a:graphicData uri="http://schemas.openxmlformats.org/drawingml/2006/table">
            <a:tbl>
              <a:tblPr firstRow="1" firstCol="1" bandRow="1">
                <a:tableStyleId>{2D5ABB26-0587-4C30-8999-92F81FD0307C}</a:tableStyleId>
              </a:tblPr>
              <a:tblGrid>
                <a:gridCol w="510540">
                  <a:extLst>
                    <a:ext uri="{9D8B030D-6E8A-4147-A177-3AD203B41FA5}">
                      <a16:colId xmlns:a16="http://schemas.microsoft.com/office/drawing/2014/main" val="2099649208"/>
                    </a:ext>
                  </a:extLst>
                </a:gridCol>
                <a:gridCol w="1313074">
                  <a:extLst>
                    <a:ext uri="{9D8B030D-6E8A-4147-A177-3AD203B41FA5}">
                      <a16:colId xmlns:a16="http://schemas.microsoft.com/office/drawing/2014/main" val="3402737157"/>
                    </a:ext>
                  </a:extLst>
                </a:gridCol>
                <a:gridCol w="915081">
                  <a:extLst>
                    <a:ext uri="{9D8B030D-6E8A-4147-A177-3AD203B41FA5}">
                      <a16:colId xmlns:a16="http://schemas.microsoft.com/office/drawing/2014/main" val="1739265363"/>
                    </a:ext>
                  </a:extLst>
                </a:gridCol>
                <a:gridCol w="1144260">
                  <a:extLst>
                    <a:ext uri="{9D8B030D-6E8A-4147-A177-3AD203B41FA5}">
                      <a16:colId xmlns:a16="http://schemas.microsoft.com/office/drawing/2014/main" val="135769496"/>
                    </a:ext>
                  </a:extLst>
                </a:gridCol>
                <a:gridCol w="903621">
                  <a:extLst>
                    <a:ext uri="{9D8B030D-6E8A-4147-A177-3AD203B41FA5}">
                      <a16:colId xmlns:a16="http://schemas.microsoft.com/office/drawing/2014/main" val="1513206893"/>
                    </a:ext>
                  </a:extLst>
                </a:gridCol>
                <a:gridCol w="1050951">
                  <a:extLst>
                    <a:ext uri="{9D8B030D-6E8A-4147-A177-3AD203B41FA5}">
                      <a16:colId xmlns:a16="http://schemas.microsoft.com/office/drawing/2014/main" val="1158839076"/>
                    </a:ext>
                  </a:extLst>
                </a:gridCol>
                <a:gridCol w="988747">
                  <a:extLst>
                    <a:ext uri="{9D8B030D-6E8A-4147-A177-3AD203B41FA5}">
                      <a16:colId xmlns:a16="http://schemas.microsoft.com/office/drawing/2014/main" val="311979008"/>
                    </a:ext>
                  </a:extLst>
                </a:gridCol>
                <a:gridCol w="923266">
                  <a:extLst>
                    <a:ext uri="{9D8B030D-6E8A-4147-A177-3AD203B41FA5}">
                      <a16:colId xmlns:a16="http://schemas.microsoft.com/office/drawing/2014/main" val="176731567"/>
                    </a:ext>
                  </a:extLst>
                </a:gridCol>
              </a:tblGrid>
              <a:tr h="672385">
                <a:tc>
                  <a:txBody>
                    <a:bodyPr/>
                    <a:lstStyle/>
                    <a:p>
                      <a:pPr algn="l"/>
                      <a:r>
                        <a:rPr lang="en-IN" sz="1200" dirty="0">
                          <a:effectLst/>
                          <a:latin typeface="Times New Roman" panose="02020603050405020304" pitchFamily="18" charset="0"/>
                          <a:cs typeface="Times New Roman" panose="02020603050405020304" pitchFamily="18" charset="0"/>
                        </a:rPr>
                        <a:t>Case No.</a:t>
                      </a:r>
                      <a:endParaRPr lang="en-IN"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System Configuration</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NPC (Rs.)</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Operating Cost (Rs./year)</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Initial Capital (Rs.)</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Renewable Sources Percentage (%)</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Energy Purchased (kWh)</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Energy Sold (kWH)</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758970"/>
                  </a:ext>
                </a:extLst>
              </a:tr>
              <a:tr h="573325">
                <a:tc>
                  <a:txBody>
                    <a:bodyPr/>
                    <a:lstStyle/>
                    <a:p>
                      <a:pPr algn="l"/>
                      <a:r>
                        <a:rPr lang="en-IN" sz="1200" dirty="0">
                          <a:effectLst/>
                          <a:latin typeface="Times New Roman" panose="02020603050405020304" pitchFamily="18" charset="0"/>
                          <a:ea typeface="SimSun" panose="02010600030101010101" pitchFamily="2" charset="-122"/>
                          <a:cs typeface="Times New Roman" panose="02020603050405020304" pitchFamily="18" charset="0"/>
                        </a:rPr>
                        <a:t>VI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G+ PV ( 3Kw)+ W (1 Kw)+I(2.46 kW) </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17,28,936</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dirty="0">
                          <a:effectLst/>
                          <a:latin typeface="Times New Roman" panose="02020603050405020304" pitchFamily="18" charset="0"/>
                          <a:cs typeface="Times New Roman" panose="02020603050405020304" pitchFamily="18" charset="0"/>
                        </a:rPr>
                        <a:t>6.43</a:t>
                      </a:r>
                      <a:endParaRPr lang="en-IN"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3,16,991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38.5317</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12771.86</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3984.332</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2566597"/>
                  </a:ext>
                </a:extLst>
              </a:tr>
              <a:tr h="806862">
                <a:tc>
                  <a:txBody>
                    <a:bodyPr/>
                    <a:lstStyle/>
                    <a:p>
                      <a:pPr algn="l"/>
                      <a:r>
                        <a:rPr lang="en-IN" sz="1200" dirty="0">
                          <a:effectLst/>
                          <a:latin typeface="Times New Roman" panose="02020603050405020304" pitchFamily="18" charset="0"/>
                          <a:ea typeface="SimSun" panose="02010600030101010101" pitchFamily="2" charset="-122"/>
                          <a:cs typeface="Times New Roman" panose="02020603050405020304" pitchFamily="18" charset="0"/>
                        </a:rPr>
                        <a:t>VII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G + PV (3kW) + W (1 kW) + I(2.46kW)+ B (1)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17,46,601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6.50</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3,28,538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38.5488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12769.68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3986.567</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149070"/>
                  </a:ext>
                </a:extLst>
              </a:tr>
              <a:tr h="403431">
                <a:tc>
                  <a:txBody>
                    <a:bodyPr/>
                    <a:lstStyle/>
                    <a:p>
                      <a:pPr algn="l"/>
                      <a:r>
                        <a:rPr lang="en-IN" sz="1200" dirty="0">
                          <a:effectLst/>
                          <a:latin typeface="Times New Roman" panose="02020603050405020304" pitchFamily="18" charset="0"/>
                          <a:ea typeface="SimSun" panose="02010600030101010101" pitchFamily="2" charset="-122"/>
                          <a:cs typeface="Times New Roman" panose="02020603050405020304" pitchFamily="18" charset="0"/>
                        </a:rPr>
                        <a:t>VIII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G+ PV (3kW) + I (2.46 kW)</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20,19,016</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8.11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1,36,887</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23.4872</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14717.51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2441.718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18616"/>
                  </a:ext>
                </a:extLst>
              </a:tr>
              <a:tr h="537908">
                <a:tc>
                  <a:txBody>
                    <a:bodyPr/>
                    <a:lstStyle/>
                    <a:p>
                      <a:pPr algn="l"/>
                      <a:r>
                        <a:rPr lang="en-IN" sz="1200" dirty="0">
                          <a:effectLst/>
                          <a:latin typeface="Times New Roman" panose="02020603050405020304" pitchFamily="18" charset="0"/>
                          <a:ea typeface="SimSun" panose="02010600030101010101" pitchFamily="2" charset="-122"/>
                          <a:cs typeface="Times New Roman" panose="02020603050405020304" pitchFamily="18" charset="0"/>
                        </a:rPr>
                        <a:t>IX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G + PV (kW) + I (2.46 kW) + B(1) </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20,36,571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8.18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1,48,069</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23.5008</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14715.34</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2442.301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748289"/>
                  </a:ext>
                </a:extLst>
              </a:tr>
              <a:tr h="293492">
                <a:tc>
                  <a:txBody>
                    <a:bodyPr/>
                    <a:lstStyle/>
                    <a:p>
                      <a:pPr algn="l"/>
                      <a:r>
                        <a:rPr lang="en-IN" sz="1200" dirty="0">
                          <a:effectLst/>
                          <a:latin typeface="Times New Roman" panose="02020603050405020304" pitchFamily="18" charset="0"/>
                          <a:ea typeface="SimSun" panose="02010600030101010101" pitchFamily="2" charset="-122"/>
                          <a:cs typeface="Times New Roman" panose="02020603050405020304" pitchFamily="18" charset="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G + W (1 KW) </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22,84,719</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10.01</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1,80,000</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19.7653</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a:effectLst/>
                          <a:latin typeface="Times New Roman" panose="02020603050405020304" pitchFamily="18" charset="0"/>
                          <a:cs typeface="Times New Roman" panose="02020603050405020304" pitchFamily="18" charset="0"/>
                        </a:rPr>
                        <a:t>14157.56</a:t>
                      </a:r>
                      <a:endParaRPr lang="en-IN"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200" dirty="0">
                          <a:effectLst/>
                          <a:latin typeface="Times New Roman" panose="02020603050405020304" pitchFamily="18" charset="0"/>
                          <a:cs typeface="Times New Roman" panose="02020603050405020304" pitchFamily="18" charset="0"/>
                        </a:rPr>
                        <a:t>851.5541</a:t>
                      </a:r>
                      <a:endParaRPr lang="en-IN"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5128052"/>
                  </a:ext>
                </a:extLst>
              </a:tr>
            </a:tbl>
          </a:graphicData>
        </a:graphic>
      </p:graphicFrame>
    </p:spTree>
    <p:extLst>
      <p:ext uri="{BB962C8B-B14F-4D97-AF65-F5344CB8AC3E}">
        <p14:creationId xmlns:p14="http://schemas.microsoft.com/office/powerpoint/2010/main" val="374887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02CE89-6046-7A31-D85D-7567A5E85612}"/>
              </a:ext>
            </a:extLst>
          </p:cNvPr>
          <p:cNvSpPr>
            <a:spLocks noGrp="1"/>
          </p:cNvSpPr>
          <p:nvPr>
            <p:ph type="ftr" idx="11"/>
          </p:nvPr>
        </p:nvSpPr>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7F244776-F681-2920-76A3-52A27AFD24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5" name="Picture 4">
            <a:extLst>
              <a:ext uri="{FF2B5EF4-FFF2-40B4-BE49-F238E27FC236}">
                <a16:creationId xmlns:a16="http://schemas.microsoft.com/office/drawing/2014/main" id="{616C1963-096F-6A67-4491-475AF6D144F2}"/>
              </a:ext>
            </a:extLst>
          </p:cNvPr>
          <p:cNvPicPr>
            <a:picLocks noChangeAspect="1"/>
          </p:cNvPicPr>
          <p:nvPr/>
        </p:nvPicPr>
        <p:blipFill>
          <a:blip r:embed="rId2"/>
          <a:stretch>
            <a:fillRect/>
          </a:stretch>
        </p:blipFill>
        <p:spPr>
          <a:xfrm>
            <a:off x="762001" y="1283848"/>
            <a:ext cx="7673340" cy="2812024"/>
          </a:xfrm>
          <a:prstGeom prst="rect">
            <a:avLst/>
          </a:prstGeom>
          <a:ln>
            <a:solidFill>
              <a:schemeClr val="tx1"/>
            </a:solidFill>
          </a:ln>
        </p:spPr>
      </p:pic>
      <p:sp>
        <p:nvSpPr>
          <p:cNvPr id="6" name="TextBox 5">
            <a:extLst>
              <a:ext uri="{FF2B5EF4-FFF2-40B4-BE49-F238E27FC236}">
                <a16:creationId xmlns:a16="http://schemas.microsoft.com/office/drawing/2014/main" id="{FDD8CB44-5112-696E-1408-5D225322EAFB}"/>
              </a:ext>
            </a:extLst>
          </p:cNvPr>
          <p:cNvSpPr txBox="1"/>
          <p:nvPr/>
        </p:nvSpPr>
        <p:spPr>
          <a:xfrm>
            <a:off x="1859280" y="4095872"/>
            <a:ext cx="6012180" cy="642620"/>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Component-wise annual Electrical energy production by each component (Case VI , G+PV(3kw)+W(1kw), Optimized)</a:t>
            </a:r>
          </a:p>
        </p:txBody>
      </p:sp>
    </p:spTree>
    <p:extLst>
      <p:ext uri="{BB962C8B-B14F-4D97-AF65-F5344CB8AC3E}">
        <p14:creationId xmlns:p14="http://schemas.microsoft.com/office/powerpoint/2010/main" val="3629199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D30054-55B2-BA36-044E-8FF9DAD50E28}"/>
              </a:ext>
            </a:extLst>
          </p:cNvPr>
          <p:cNvSpPr>
            <a:spLocks noGrp="1"/>
          </p:cNvSpPr>
          <p:nvPr>
            <p:ph type="ftr" idx="11"/>
          </p:nvPr>
        </p:nvSpPr>
        <p:spPr/>
        <p:txBody>
          <a:bodyPr/>
          <a:lstStyle/>
          <a:p>
            <a:r>
              <a:rPr lang="en-US"/>
              <a:t>PES's MCOE Department of Electrical Engineering (AY : 2022-23)</a:t>
            </a:r>
          </a:p>
        </p:txBody>
      </p:sp>
      <p:sp>
        <p:nvSpPr>
          <p:cNvPr id="3" name="Slide Number Placeholder 2">
            <a:extLst>
              <a:ext uri="{FF2B5EF4-FFF2-40B4-BE49-F238E27FC236}">
                <a16:creationId xmlns:a16="http://schemas.microsoft.com/office/drawing/2014/main" id="{EC0B3C0F-B6E1-25CC-5886-6626F544D0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graphicFrame>
        <p:nvGraphicFramePr>
          <p:cNvPr id="4" name="Table 3">
            <a:extLst>
              <a:ext uri="{FF2B5EF4-FFF2-40B4-BE49-F238E27FC236}">
                <a16:creationId xmlns:a16="http://schemas.microsoft.com/office/drawing/2014/main" id="{A77124F0-155F-CD30-6FD0-3F1B0ED98060}"/>
              </a:ext>
            </a:extLst>
          </p:cNvPr>
          <p:cNvGraphicFramePr>
            <a:graphicFrameLocks noGrp="1"/>
          </p:cNvGraphicFramePr>
          <p:nvPr>
            <p:extLst>
              <p:ext uri="{D42A27DB-BD31-4B8C-83A1-F6EECF244321}">
                <p14:modId xmlns:p14="http://schemas.microsoft.com/office/powerpoint/2010/main" val="1638229241"/>
              </p:ext>
            </p:extLst>
          </p:nvPr>
        </p:nvGraphicFramePr>
        <p:xfrm>
          <a:off x="1899501" y="1317396"/>
          <a:ext cx="5344998" cy="4300442"/>
        </p:xfrm>
        <a:graphic>
          <a:graphicData uri="http://schemas.openxmlformats.org/drawingml/2006/table">
            <a:tbl>
              <a:tblPr firstRow="1" firstCol="1" bandRow="1">
                <a:tableStyleId>{2D5ABB26-0587-4C30-8999-92F81FD0307C}</a:tableStyleId>
              </a:tblPr>
              <a:tblGrid>
                <a:gridCol w="1795242">
                  <a:extLst>
                    <a:ext uri="{9D8B030D-6E8A-4147-A177-3AD203B41FA5}">
                      <a16:colId xmlns:a16="http://schemas.microsoft.com/office/drawing/2014/main" val="257738732"/>
                    </a:ext>
                  </a:extLst>
                </a:gridCol>
                <a:gridCol w="1827161">
                  <a:extLst>
                    <a:ext uri="{9D8B030D-6E8A-4147-A177-3AD203B41FA5}">
                      <a16:colId xmlns:a16="http://schemas.microsoft.com/office/drawing/2014/main" val="1755210759"/>
                    </a:ext>
                  </a:extLst>
                </a:gridCol>
                <a:gridCol w="1722595">
                  <a:extLst>
                    <a:ext uri="{9D8B030D-6E8A-4147-A177-3AD203B41FA5}">
                      <a16:colId xmlns:a16="http://schemas.microsoft.com/office/drawing/2014/main" val="1302171812"/>
                    </a:ext>
                  </a:extLst>
                </a:gridCol>
              </a:tblGrid>
              <a:tr h="831444">
                <a:tc>
                  <a:txBody>
                    <a:bodyPr/>
                    <a:lstStyle/>
                    <a:p>
                      <a:pPr algn="just"/>
                      <a:r>
                        <a:rPr lang="en-IN" sz="1600" dirty="0">
                          <a:effectLst/>
                          <a:latin typeface="Times New Roman" panose="02020603050405020304" pitchFamily="18" charset="0"/>
                          <a:cs typeface="Times New Roman" panose="02020603050405020304" pitchFamily="18" charset="0"/>
                        </a:rPr>
                        <a:t>Comparing Parameters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Actual System (CASE V) without optimization</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dirty="0">
                          <a:effectLst/>
                          <a:latin typeface="Times New Roman" panose="02020603050405020304" pitchFamily="18" charset="0"/>
                          <a:cs typeface="Times New Roman" panose="02020603050405020304" pitchFamily="18" charset="0"/>
                        </a:rPr>
                        <a:t>HOMER optimized System</a:t>
                      </a:r>
                    </a:p>
                    <a:p>
                      <a:pPr algn="l"/>
                      <a:r>
                        <a:rPr lang="en-IN" sz="1600">
                          <a:effectLst/>
                          <a:latin typeface="Times New Roman" panose="02020603050405020304" pitchFamily="18" charset="0"/>
                          <a:ea typeface="SimSun" panose="02010600030101010101" pitchFamily="2" charset="-122"/>
                          <a:cs typeface="Times New Roman" panose="02020603050405020304" pitchFamily="18" charset="0"/>
                        </a:rPr>
                        <a:t>(Case VI)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32502"/>
                  </a:ext>
                </a:extLst>
              </a:tr>
              <a:tr h="658849">
                <a:tc>
                  <a:txBody>
                    <a:bodyPr/>
                    <a:lstStyle/>
                    <a:p>
                      <a:pPr algn="just"/>
                      <a:r>
                        <a:rPr lang="en-IN" sz="1600">
                          <a:effectLst/>
                          <a:latin typeface="Times New Roman" panose="02020603050405020304" pitchFamily="18" charset="0"/>
                          <a:cs typeface="Times New Roman" panose="02020603050405020304" pitchFamily="18" charset="0"/>
                        </a:rPr>
                        <a:t>Energy purchased (KwH)</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12,907 kwh</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effectLst/>
                          <a:latin typeface="Times New Roman" panose="02020603050405020304" pitchFamily="18" charset="0"/>
                          <a:cs typeface="Times New Roman" panose="02020603050405020304" pitchFamily="18" charset="0"/>
                        </a:rPr>
                        <a:t>12,770 kwh</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2397693"/>
                  </a:ext>
                </a:extLst>
              </a:tr>
              <a:tr h="563488">
                <a:tc>
                  <a:txBody>
                    <a:bodyPr/>
                    <a:lstStyle/>
                    <a:p>
                      <a:pPr algn="just"/>
                      <a:r>
                        <a:rPr lang="en-IN" sz="1600">
                          <a:effectLst/>
                          <a:latin typeface="Times New Roman" panose="02020603050405020304" pitchFamily="18" charset="0"/>
                          <a:cs typeface="Times New Roman" panose="02020603050405020304" pitchFamily="18" charset="0"/>
                        </a:rPr>
                        <a:t>Operating Cost (Rs.)</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1,50,200 Rs.</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1,09,220 Rs.</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6633987"/>
                  </a:ext>
                </a:extLst>
              </a:tr>
              <a:tr h="439233">
                <a:tc>
                  <a:txBody>
                    <a:bodyPr/>
                    <a:lstStyle/>
                    <a:p>
                      <a:pPr algn="just"/>
                      <a:r>
                        <a:rPr lang="en-IN" sz="1600">
                          <a:effectLst/>
                          <a:latin typeface="Times New Roman" panose="02020603050405020304" pitchFamily="18" charset="0"/>
                          <a:cs typeface="Times New Roman" panose="02020603050405020304" pitchFamily="18" charset="0"/>
                        </a:rPr>
                        <a:t>Total NPC (Rs.)</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cs typeface="Times New Roman" panose="02020603050405020304" pitchFamily="18" charset="0"/>
                        </a:rPr>
                        <a:t>26,88,712 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cs typeface="Times New Roman" panose="02020603050405020304" pitchFamily="18" charset="0"/>
                        </a:rPr>
                        <a:t>17,28,936 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872814"/>
                  </a:ext>
                </a:extLst>
              </a:tr>
              <a:tr h="658849">
                <a:tc>
                  <a:txBody>
                    <a:bodyPr/>
                    <a:lstStyle/>
                    <a:p>
                      <a:pPr algn="just"/>
                      <a:r>
                        <a:rPr lang="en-IN" sz="1600" dirty="0">
                          <a:effectLst/>
                          <a:latin typeface="Times New Roman" panose="02020603050405020304" pitchFamily="18" charset="0"/>
                          <a:cs typeface="Times New Roman" panose="02020603050405020304" pitchFamily="18" charset="0"/>
                        </a:rPr>
                        <a:t>Energy Sold back (</a:t>
                      </a:r>
                      <a:r>
                        <a:rPr lang="en-IN" sz="1600" dirty="0" err="1">
                          <a:effectLst/>
                          <a:latin typeface="Times New Roman" panose="02020603050405020304" pitchFamily="18" charset="0"/>
                          <a:cs typeface="Times New Roman" panose="02020603050405020304" pitchFamily="18" charset="0"/>
                        </a:rPr>
                        <a:t>KwH</a:t>
                      </a:r>
                      <a:r>
                        <a:rPr lang="en-IN" sz="1600"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1,107 kwh</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3,984 kwh</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441722"/>
                  </a:ext>
                </a:extLst>
              </a:tr>
              <a:tr h="303347">
                <a:tc>
                  <a:txBody>
                    <a:bodyPr/>
                    <a:lstStyle/>
                    <a:p>
                      <a:pPr algn="just"/>
                      <a:r>
                        <a:rPr lang="en-IN" sz="1600">
                          <a:effectLst/>
                          <a:latin typeface="Times New Roman" panose="02020603050405020304" pitchFamily="18" charset="0"/>
                          <a:cs typeface="Times New Roman" panose="02020603050405020304" pitchFamily="18" charset="0"/>
                        </a:rPr>
                        <a:t>Renewable %</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27.9%</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a:effectLst/>
                          <a:latin typeface="Times New Roman" panose="02020603050405020304" pitchFamily="18" charset="0"/>
                          <a:cs typeface="Times New Roman" panose="02020603050405020304" pitchFamily="18" charset="0"/>
                        </a:rPr>
                        <a:t>38.5%</a:t>
                      </a:r>
                      <a:endParaRPr lang="en-IN" sz="16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7052310"/>
                  </a:ext>
                </a:extLst>
              </a:tr>
              <a:tr h="281744">
                <a:tc>
                  <a:txBody>
                    <a:bodyPr/>
                    <a:lstStyle/>
                    <a:p>
                      <a:pPr algn="just"/>
                      <a:r>
                        <a:rPr lang="en-IN" sz="1600" dirty="0">
                          <a:effectLst/>
                          <a:latin typeface="Times New Roman" panose="02020603050405020304" pitchFamily="18" charset="0"/>
                          <a:cs typeface="Times New Roman" panose="02020603050405020304" pitchFamily="18" charset="0"/>
                        </a:rPr>
                        <a:t>COE (Rs.)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cs typeface="Times New Roman" panose="02020603050405020304" pitchFamily="18" charset="0"/>
                        </a:rPr>
                        <a:t>11.60 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cs typeface="Times New Roman" panose="02020603050405020304" pitchFamily="18" charset="0"/>
                        </a:rPr>
                        <a:t>6.44 Rs.</a:t>
                      </a:r>
                      <a:endParaRPr lang="en-IN"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413161"/>
                  </a:ext>
                </a:extLst>
              </a:tr>
              <a:tr h="281744">
                <a:tc>
                  <a:txBody>
                    <a:bodyPr/>
                    <a:lstStyle/>
                    <a:p>
                      <a:pPr algn="just"/>
                      <a:r>
                        <a:rPr lang="en-IN" sz="1600" dirty="0">
                          <a:effectLst/>
                          <a:latin typeface="Times New Roman" panose="02020603050405020304" pitchFamily="18" charset="0"/>
                          <a:ea typeface="SimSun" panose="02010600030101010101" pitchFamily="2" charset="-122"/>
                          <a:cs typeface="Times New Roman" panose="02020603050405020304" pitchFamily="18" charset="0"/>
                        </a:rPr>
                        <a:t>Pay Back Period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ea typeface="SimSun" panose="02010600030101010101" pitchFamily="2" charset="-122"/>
                          <a:cs typeface="Times New Roman" panose="02020603050405020304" pitchFamily="18" charset="0"/>
                        </a:rPr>
                        <a:t>15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latin typeface="Times New Roman" panose="02020603050405020304" pitchFamily="18" charset="0"/>
                          <a:ea typeface="SimSun" panose="02010600030101010101" pitchFamily="2" charset="-122"/>
                          <a:cs typeface="Times New Roman" panose="02020603050405020304" pitchFamily="18" charset="0"/>
                        </a:rPr>
                        <a:t>3.5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3557257"/>
                  </a:ext>
                </a:extLst>
              </a:tr>
              <a:tr h="281744">
                <a:tc>
                  <a:txBody>
                    <a:bodyPr/>
                    <a:lstStyle/>
                    <a:p>
                      <a:pPr algn="just"/>
                      <a:r>
                        <a:rPr lang="en-IN" sz="1600" dirty="0">
                          <a:effectLst/>
                          <a:latin typeface="Times New Roman" panose="02020603050405020304" pitchFamily="18" charset="0"/>
                          <a:ea typeface="SimSun" panose="02010600030101010101" pitchFamily="2" charset="-122"/>
                          <a:cs typeface="Times New Roman" panose="02020603050405020304" pitchFamily="18" charset="0"/>
                        </a:rPr>
                        <a:t>Annual Saving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highlight>
                            <a:srgbClr val="FFFF00"/>
                          </a:highlight>
                          <a:latin typeface="Times New Roman" panose="02020603050405020304" pitchFamily="18" charset="0"/>
                          <a:ea typeface="SimSun" panose="02010600030101010101" pitchFamily="2" charset="-122"/>
                          <a:cs typeface="Times New Roman" panose="02020603050405020304" pitchFamily="18" charset="0"/>
                        </a:rPr>
                        <a:t>48,972 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600" dirty="0">
                          <a:effectLst/>
                          <a:highlight>
                            <a:srgbClr val="FFFF00"/>
                          </a:highlight>
                          <a:latin typeface="Times New Roman" panose="02020603050405020304" pitchFamily="18" charset="0"/>
                          <a:ea typeface="SimSun" panose="02010600030101010101" pitchFamily="2" charset="-122"/>
                          <a:cs typeface="Times New Roman" panose="02020603050405020304" pitchFamily="18" charset="0"/>
                        </a:rPr>
                        <a:t>89,952 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026687"/>
                  </a:ext>
                </a:extLst>
              </a:tr>
            </a:tbl>
          </a:graphicData>
        </a:graphic>
      </p:graphicFrame>
    </p:spTree>
    <p:extLst>
      <p:ext uri="{BB962C8B-B14F-4D97-AF65-F5344CB8AC3E}">
        <p14:creationId xmlns:p14="http://schemas.microsoft.com/office/powerpoint/2010/main" val="1515166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2314-4541-0B29-A3A5-9778F0FA72DA}"/>
              </a:ext>
            </a:extLst>
          </p:cNvPr>
          <p:cNvSpPr>
            <a:spLocks noGrp="1"/>
          </p:cNvSpPr>
          <p:nvPr>
            <p:ph type="title"/>
          </p:nvPr>
        </p:nvSpPr>
        <p:spPr>
          <a:xfrm>
            <a:off x="580534" y="167005"/>
            <a:ext cx="7725266" cy="1002164"/>
          </a:xfrm>
        </p:spPr>
        <p:txBody>
          <a:bodyPr>
            <a:normAutofit/>
          </a:bodyPr>
          <a:lstStyle/>
          <a:p>
            <a:pPr algn="ctr"/>
            <a:r>
              <a:rPr lang="en-IN" sz="2800" dirty="0">
                <a:solidFill>
                  <a:schemeClr val="bg2">
                    <a:lumMod val="75000"/>
                  </a:schemeClr>
                </a:solidFill>
                <a:latin typeface="Times New Roman" panose="02020603050405020304" pitchFamily="18" charset="0"/>
                <a:cs typeface="Times New Roman" panose="02020603050405020304" pitchFamily="18" charset="0"/>
              </a:rPr>
              <a:t>Optimized Result from HOMER</a:t>
            </a:r>
          </a:p>
        </p:txBody>
      </p:sp>
      <p:sp>
        <p:nvSpPr>
          <p:cNvPr id="4" name="Footer Placeholder 3">
            <a:extLst>
              <a:ext uri="{FF2B5EF4-FFF2-40B4-BE49-F238E27FC236}">
                <a16:creationId xmlns:a16="http://schemas.microsoft.com/office/drawing/2014/main" id="{E9997E40-288E-A487-811E-70CB6BC4B9A0}"/>
              </a:ext>
            </a:extLst>
          </p:cNvPr>
          <p:cNvSpPr>
            <a:spLocks noGrp="1"/>
          </p:cNvSpPr>
          <p:nvPr>
            <p:ph type="ftr" idx="11"/>
          </p:nvPr>
        </p:nvSpPr>
        <p:spPr/>
        <p:txBody>
          <a:bodyPr/>
          <a:lstStyle/>
          <a:p>
            <a:r>
              <a:rPr lang="en-US"/>
              <a:t>PES's MCOE Department of Electrical Engineering (AY : 2022-23)</a:t>
            </a:r>
          </a:p>
        </p:txBody>
      </p:sp>
      <p:sp>
        <p:nvSpPr>
          <p:cNvPr id="5" name="Slide Number Placeholder 4">
            <a:extLst>
              <a:ext uri="{FF2B5EF4-FFF2-40B4-BE49-F238E27FC236}">
                <a16:creationId xmlns:a16="http://schemas.microsoft.com/office/drawing/2014/main" id="{3031F4EF-EF1E-398E-91D7-BE5980A509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9906228E-CC1A-EE23-2B92-AA207C506B9D}"/>
                  </a:ext>
                </a:extLst>
              </p14:cNvPr>
              <p14:cNvContentPartPr/>
              <p14:nvPr/>
            </p14:nvContentPartPr>
            <p14:xfrm>
              <a:off x="-449880" y="4091940"/>
              <a:ext cx="360" cy="360"/>
            </p14:xfrm>
          </p:contentPart>
        </mc:Choice>
        <mc:Fallback xmlns="">
          <p:pic>
            <p:nvPicPr>
              <p:cNvPr id="12" name="Ink 11">
                <a:extLst>
                  <a:ext uri="{FF2B5EF4-FFF2-40B4-BE49-F238E27FC236}">
                    <a16:creationId xmlns:a16="http://schemas.microsoft.com/office/drawing/2014/main" id="{9906228E-CC1A-EE23-2B92-AA207C506B9D}"/>
                  </a:ext>
                </a:extLst>
              </p:cNvPr>
              <p:cNvPicPr/>
              <p:nvPr/>
            </p:nvPicPr>
            <p:blipFill>
              <a:blip r:embed="rId5"/>
              <a:stretch>
                <a:fillRect/>
              </a:stretch>
            </p:blipFill>
            <p:spPr>
              <a:xfrm>
                <a:off x="-458520" y="4082940"/>
                <a:ext cx="18000" cy="18000"/>
              </a:xfrm>
              <a:prstGeom prst="rect">
                <a:avLst/>
              </a:prstGeom>
            </p:spPr>
          </p:pic>
        </mc:Fallback>
      </mc:AlternateContent>
      <p:pic>
        <p:nvPicPr>
          <p:cNvPr id="9" name="Picture 8">
            <a:extLst>
              <a:ext uri="{FF2B5EF4-FFF2-40B4-BE49-F238E27FC236}">
                <a16:creationId xmlns:a16="http://schemas.microsoft.com/office/drawing/2014/main" id="{64D0B71E-086A-BABB-794D-5B4F88BF4BEC}"/>
              </a:ext>
            </a:extLst>
          </p:cNvPr>
          <p:cNvPicPr>
            <a:picLocks noChangeAspect="1"/>
          </p:cNvPicPr>
          <p:nvPr/>
        </p:nvPicPr>
        <p:blipFill>
          <a:blip r:embed="rId6"/>
          <a:stretch>
            <a:fillRect/>
          </a:stretch>
        </p:blipFill>
        <p:spPr>
          <a:xfrm>
            <a:off x="2107781" y="1803388"/>
            <a:ext cx="6378778" cy="4552962"/>
          </a:xfrm>
          <a:prstGeom prst="rect">
            <a:avLst/>
          </a:prstGeom>
        </p:spPr>
      </p:pic>
      <p:sp>
        <p:nvSpPr>
          <p:cNvPr id="11" name="TextBox 10">
            <a:extLst>
              <a:ext uri="{FF2B5EF4-FFF2-40B4-BE49-F238E27FC236}">
                <a16:creationId xmlns:a16="http://schemas.microsoft.com/office/drawing/2014/main" id="{668D33FB-041D-3FD5-F486-E53A6BEFDF76}"/>
              </a:ext>
            </a:extLst>
          </p:cNvPr>
          <p:cNvSpPr txBox="1"/>
          <p:nvPr/>
        </p:nvSpPr>
        <p:spPr>
          <a:xfrm rot="842715">
            <a:off x="5990908" y="3214351"/>
            <a:ext cx="1706880" cy="215444"/>
          </a:xfrm>
          <a:prstGeom prst="rect">
            <a:avLst/>
          </a:prstGeom>
          <a:noFill/>
        </p:spPr>
        <p:txBody>
          <a:bodyPr wrap="square" rtlCol="0">
            <a:spAutoFit/>
          </a:bodyPr>
          <a:lstStyle/>
          <a:p>
            <a:r>
              <a:rPr lang="en-IN" sz="800" dirty="0"/>
              <a:t>Optimised system</a:t>
            </a:r>
          </a:p>
        </p:txBody>
      </p:sp>
      <p:sp>
        <p:nvSpPr>
          <p:cNvPr id="13" name="TextBox 12">
            <a:extLst>
              <a:ext uri="{FF2B5EF4-FFF2-40B4-BE49-F238E27FC236}">
                <a16:creationId xmlns:a16="http://schemas.microsoft.com/office/drawing/2014/main" id="{4B6D55E9-F3D1-D330-D6E3-1A2EE434577B}"/>
              </a:ext>
            </a:extLst>
          </p:cNvPr>
          <p:cNvSpPr txBox="1"/>
          <p:nvPr/>
        </p:nvSpPr>
        <p:spPr>
          <a:xfrm rot="1790918">
            <a:off x="6084140" y="4002669"/>
            <a:ext cx="1706880" cy="215444"/>
          </a:xfrm>
          <a:prstGeom prst="rect">
            <a:avLst/>
          </a:prstGeom>
          <a:noFill/>
        </p:spPr>
        <p:txBody>
          <a:bodyPr wrap="square" rtlCol="0">
            <a:spAutoFit/>
          </a:bodyPr>
          <a:lstStyle/>
          <a:p>
            <a:r>
              <a:rPr lang="en-IN" sz="800" dirty="0"/>
              <a:t>Base Case (grid)</a:t>
            </a:r>
          </a:p>
        </p:txBody>
      </p:sp>
      <p:pic>
        <p:nvPicPr>
          <p:cNvPr id="15" name="Picture 14">
            <a:extLst>
              <a:ext uri="{FF2B5EF4-FFF2-40B4-BE49-F238E27FC236}">
                <a16:creationId xmlns:a16="http://schemas.microsoft.com/office/drawing/2014/main" id="{BA5A115C-4805-F263-04C7-77BE4DF02F0E}"/>
              </a:ext>
            </a:extLst>
          </p:cNvPr>
          <p:cNvPicPr>
            <a:picLocks noChangeAspect="1"/>
          </p:cNvPicPr>
          <p:nvPr/>
        </p:nvPicPr>
        <p:blipFill>
          <a:blip r:embed="rId7"/>
          <a:stretch>
            <a:fillRect/>
          </a:stretch>
        </p:blipFill>
        <p:spPr>
          <a:xfrm>
            <a:off x="6305173" y="1297780"/>
            <a:ext cx="2181386" cy="1660277"/>
          </a:xfrm>
          <a:prstGeom prst="rect">
            <a:avLst/>
          </a:prstGeom>
        </p:spPr>
      </p:pic>
      <p:pic>
        <p:nvPicPr>
          <p:cNvPr id="17" name="Picture 16">
            <a:extLst>
              <a:ext uri="{FF2B5EF4-FFF2-40B4-BE49-F238E27FC236}">
                <a16:creationId xmlns:a16="http://schemas.microsoft.com/office/drawing/2014/main" id="{86BCDA3D-9723-C93E-5416-5C8049E5F7BE}"/>
              </a:ext>
            </a:extLst>
          </p:cNvPr>
          <p:cNvPicPr>
            <a:picLocks noChangeAspect="1"/>
          </p:cNvPicPr>
          <p:nvPr/>
        </p:nvPicPr>
        <p:blipFill>
          <a:blip r:embed="rId8"/>
          <a:stretch>
            <a:fillRect/>
          </a:stretch>
        </p:blipFill>
        <p:spPr>
          <a:xfrm>
            <a:off x="248340" y="2039719"/>
            <a:ext cx="1859441" cy="4298052"/>
          </a:xfrm>
          <a:prstGeom prst="rect">
            <a:avLst/>
          </a:prstGeom>
        </p:spPr>
      </p:pic>
    </p:spTree>
    <p:extLst>
      <p:ext uri="{BB962C8B-B14F-4D97-AF65-F5344CB8AC3E}">
        <p14:creationId xmlns:p14="http://schemas.microsoft.com/office/powerpoint/2010/main" val="2479440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365C-7312-B66D-7726-0E4BB5D63143}"/>
              </a:ext>
            </a:extLst>
          </p:cNvPr>
          <p:cNvSpPr>
            <a:spLocks noGrp="1"/>
          </p:cNvSpPr>
          <p:nvPr>
            <p:ph type="title"/>
          </p:nvPr>
        </p:nvSpPr>
        <p:spPr>
          <a:xfrm>
            <a:off x="457200" y="289309"/>
            <a:ext cx="8229600" cy="1143000"/>
          </a:xfrm>
        </p:spPr>
        <p:txBody>
          <a:bodyPr>
            <a:normAutofit/>
          </a:bodyPr>
          <a:lstStyle/>
          <a:p>
            <a:r>
              <a:rPr lang="en-IN" sz="40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ACE70A3F-4665-3406-06BE-D8986DAAAA06}"/>
              </a:ext>
            </a:extLst>
          </p:cNvPr>
          <p:cNvSpPr>
            <a:spLocks noGrp="1"/>
          </p:cNvSpPr>
          <p:nvPr>
            <p:ph type="body" idx="1"/>
          </p:nvPr>
        </p:nvSpPr>
        <p:spPr>
          <a:xfrm>
            <a:off x="457200" y="1699769"/>
            <a:ext cx="8229600" cy="4389120"/>
          </a:xfrm>
        </p:spPr>
        <p:txBody>
          <a:bodyPr>
            <a:normAutofit/>
          </a:bodyPr>
          <a:lstStyle/>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Case III, which is a simulation without HOMER optimization, has the lowest operating cost (Rs. 1,44,901) and a COE (Cost of Energy) of Rs. 9.22. This indicates that the system configuration in Case III is cost-effective and efficient.</a:t>
            </a:r>
          </a:p>
          <a:p>
            <a:pPr>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 Case V represents an actual system that is planned for installation. While it has an initial cost of Rs. 7,47,000 and an operating cost of Rs. 1,50,200, the annual savings are Rs. 48,972. However, the payback period for this system is 15 years, suggesting that it may not be economically </a:t>
            </a:r>
            <a:r>
              <a:rPr lang="en-US" sz="1400" dirty="0" err="1">
                <a:latin typeface="Times New Roman" panose="02020603050405020304" pitchFamily="18" charset="0"/>
                <a:cs typeface="Times New Roman" panose="02020603050405020304" pitchFamily="18" charset="0"/>
              </a:rPr>
              <a:t>favourable</a:t>
            </a:r>
            <a:r>
              <a:rPr lang="en-US" sz="1400" dirty="0">
                <a:latin typeface="Times New Roman" panose="02020603050405020304" pitchFamily="18" charset="0"/>
                <a:cs typeface="Times New Roman" panose="02020603050405020304" pitchFamily="18" charset="0"/>
              </a:rPr>
              <a:t> in the long run.</a:t>
            </a:r>
          </a:p>
          <a:p>
            <a:pPr>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HOMER optimization simulation (Case VI) aims to find an optimized system configuration. Out of 19,444 feasible cases, the optimized system includes a 3kW solar PV, 1kW wind source, and a 2.46kW inverter. It has an initial capital requirement of Rs. 3,16,992, an annual operating cost of Rs. 1,09,220, and annual energy bill savings of Rs. 89,995. The payback period for this system is only 3.5 years, making it economically attractive.</a:t>
            </a:r>
          </a:p>
          <a:p>
            <a:pPr>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Comparing the results of the simulation study, it is evident that the HOMER-optimized system (Case VI) outperforms the actual system (Case V) in terms of COE and NPC (Net Present Cost). The HOMER simulation is recommended as a means to evaluate the economic and technical feasibility of hybrid system projects before investing, as it can lead to more cost-effective and efficient solutions.</a:t>
            </a:r>
            <a:endParaRPr lang="en-IN" sz="1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9597B43-8E8A-D8A5-D39A-3F7050623F77}"/>
              </a:ext>
            </a:extLst>
          </p:cNvPr>
          <p:cNvSpPr>
            <a:spLocks noGrp="1"/>
          </p:cNvSpPr>
          <p:nvPr>
            <p:ph type="ftr" idx="11"/>
          </p:nvPr>
        </p:nvSpPr>
        <p:spPr/>
        <p:txBody>
          <a:bodyPr/>
          <a:lstStyle/>
          <a:p>
            <a:r>
              <a:rPr lang="en-US"/>
              <a:t>PES's MCOE Department of Electrical Engineering (AY : 2022-23)</a:t>
            </a:r>
          </a:p>
        </p:txBody>
      </p:sp>
      <p:sp>
        <p:nvSpPr>
          <p:cNvPr id="5" name="Slide Number Placeholder 4">
            <a:extLst>
              <a:ext uri="{FF2B5EF4-FFF2-40B4-BE49-F238E27FC236}">
                <a16:creationId xmlns:a16="http://schemas.microsoft.com/office/drawing/2014/main" id="{60730191-7B74-D886-780A-23B5C287A1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395184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9CD64-C9A5-5B29-2C3F-4B4792844CB8}"/>
              </a:ext>
            </a:extLst>
          </p:cNvPr>
          <p:cNvSpPr>
            <a:spLocks noGrp="1"/>
          </p:cNvSpPr>
          <p:nvPr>
            <p:ph type="title"/>
          </p:nvPr>
        </p:nvSpPr>
        <p:spPr>
          <a:xfrm>
            <a:off x="457200" y="704088"/>
            <a:ext cx="8229600" cy="748792"/>
          </a:xfrm>
        </p:spPr>
        <p:txBody>
          <a:bodyPr>
            <a:normAutofit/>
          </a:bodyPr>
          <a:lstStyle/>
          <a:p>
            <a:pPr algn="ctr"/>
            <a:r>
              <a:rPr lang="en-IN" sz="4000" dirty="0">
                <a:solidFill>
                  <a:schemeClr val="bg2">
                    <a:lumMod val="75000"/>
                  </a:schemeClr>
                </a:solidFill>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0012B868-C5C7-F6D9-CD54-A37FDDE400AA}"/>
              </a:ext>
            </a:extLst>
          </p:cNvPr>
          <p:cNvSpPr>
            <a:spLocks noGrp="1"/>
          </p:cNvSpPr>
          <p:nvPr>
            <p:ph type="body" idx="1"/>
          </p:nvPr>
        </p:nvSpPr>
        <p:spPr>
          <a:xfrm>
            <a:off x="457201" y="1619144"/>
            <a:ext cx="8229599" cy="4534768"/>
          </a:xfrm>
        </p:spPr>
        <p:txBody>
          <a:bodyPr>
            <a:normAutofit/>
          </a:bodyPr>
          <a:lstStyle/>
          <a:p>
            <a:pPr marL="462915" indent="-342900">
              <a:buClrTx/>
              <a:buFont typeface="+mj-lt"/>
              <a:buAutoNum type="arabicPeriod"/>
            </a:pPr>
            <a:r>
              <a:rPr lang="en-IN" sz="1600" dirty="0">
                <a:latin typeface="Times New Roman" panose="02020603050405020304" pitchFamily="18" charset="0"/>
                <a:cs typeface="Times New Roman" panose="02020603050405020304" pitchFamily="18" charset="0"/>
              </a:rPr>
              <a:t>Jagriti kumari, P.Subathra, J. Edwin Moses, Shruthi D., “Economic Analysis Of Hybrid Energy System For Rural Electrification using HOMER”, IEEE international conference on Innovations in electrical, electronics, instrumentation and media technology [2017].</a:t>
            </a:r>
          </a:p>
          <a:p>
            <a:pPr marL="462915" indent="-342900">
              <a:buClrTx/>
              <a:buFont typeface="+mj-lt"/>
              <a:buAutoNum type="arabicPeriod"/>
            </a:pPr>
            <a:endParaRPr lang="en-IN" sz="1600" dirty="0">
              <a:latin typeface="Times New Roman" panose="02020603050405020304" pitchFamily="18" charset="0"/>
              <a:cs typeface="Times New Roman" panose="02020603050405020304" pitchFamily="18" charset="0"/>
            </a:endParaRPr>
          </a:p>
          <a:p>
            <a:pPr marL="462915" indent="-342900">
              <a:buClrTx/>
              <a:buFont typeface="+mj-lt"/>
              <a:buAutoNum type="arabicPeriod"/>
            </a:pPr>
            <a:r>
              <a:rPr lang="en-IN" sz="1600" dirty="0">
                <a:latin typeface="Times New Roman" panose="02020603050405020304" pitchFamily="18" charset="0"/>
                <a:cs typeface="Times New Roman" panose="02020603050405020304" pitchFamily="18" charset="0"/>
              </a:rPr>
              <a:t>K. Nagasujatha, V.B. Shalini, “Technical Performance Evaluation And Economic Viable Solutions Using Hybrid Renewable Energy Systems”, IEEE Power, Communication and information technology conference (Bhubaneswar, India) [2015].</a:t>
            </a:r>
          </a:p>
          <a:p>
            <a:pPr marL="462915" indent="-342900">
              <a:buClrTx/>
              <a:buFont typeface="+mj-lt"/>
              <a:buAutoNum type="arabicPeriod"/>
            </a:pPr>
            <a:endParaRPr lang="en-IN" sz="1600" dirty="0">
              <a:latin typeface="Times New Roman" panose="02020603050405020304" pitchFamily="18" charset="0"/>
              <a:cs typeface="Times New Roman" panose="02020603050405020304" pitchFamily="18" charset="0"/>
            </a:endParaRPr>
          </a:p>
          <a:p>
            <a:pPr marL="462915" indent="-342900">
              <a:buClrTx/>
              <a:buFont typeface="+mj-lt"/>
              <a:buAutoNum type="arabicPeriod"/>
            </a:pPr>
            <a:r>
              <a:rPr lang="en-IN" sz="1600" dirty="0">
                <a:latin typeface="Times New Roman" panose="02020603050405020304" pitchFamily="18" charset="0"/>
                <a:cs typeface="Times New Roman" panose="02020603050405020304" pitchFamily="18" charset="0"/>
              </a:rPr>
              <a:t>N.H. Nehrir, C. Wang, K. Strunz, H. Aki, R. Ramakumar, J. Bing, Z. Miao, Z.Salameh “A Review Of Hybrid Renewable/Alternative Energy Systems For Electric Power Generation: Configuration, Control, An Applications”, IEEE Transactions on sustainable energy [2011]</a:t>
            </a:r>
          </a:p>
          <a:p>
            <a:pPr marL="462915" indent="-342900">
              <a:buClrTx/>
              <a:buFont typeface="+mj-lt"/>
              <a:buAutoNum type="arabicPeriod"/>
            </a:pPr>
            <a:endParaRPr lang="en-IN" sz="1600" dirty="0">
              <a:latin typeface="Times New Roman" panose="02020603050405020304" pitchFamily="18" charset="0"/>
              <a:cs typeface="Times New Roman" panose="02020603050405020304" pitchFamily="18" charset="0"/>
            </a:endParaRPr>
          </a:p>
          <a:p>
            <a:pPr marL="462915" indent="-342900">
              <a:buClrTx/>
              <a:buFont typeface="+mj-lt"/>
              <a:buAutoNum type="arabicPeriod"/>
            </a:pPr>
            <a:r>
              <a:rPr lang="en-IN" sz="1600" dirty="0">
                <a:latin typeface="Times New Roman" panose="02020603050405020304" pitchFamily="18" charset="0"/>
                <a:cs typeface="Times New Roman" panose="02020603050405020304" pitchFamily="18" charset="0"/>
              </a:rPr>
              <a:t>Hoarca Cristian, Nicu Bizon, Badita Alexandru, “Design Of Hybrid Power System Using Homer Simulator For Different Renewable Energy Sources”, International Conference on Electronic, computers and artificial intelligence, Targoviste, Romania [2017]</a:t>
            </a:r>
          </a:p>
          <a:p>
            <a:pPr marL="462915"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462915" indent="-342900">
              <a:buFont typeface="+mj-lt"/>
              <a:buAutoNum type="arabicPeriod"/>
            </a:pPr>
            <a:endParaRPr lang="en-IN" sz="1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8CF3EB2-EF19-E4CC-6318-47F3CB7A4530}"/>
              </a:ext>
            </a:extLst>
          </p:cNvPr>
          <p:cNvSpPr>
            <a:spLocks noGrp="1"/>
          </p:cNvSpPr>
          <p:nvPr>
            <p:ph type="ftr" idx="11"/>
          </p:nvPr>
        </p:nvSpPr>
        <p:spPr>
          <a:xfrm>
            <a:off x="2666999" y="6356350"/>
            <a:ext cx="4450237" cy="365125"/>
          </a:xfrm>
        </p:spPr>
        <p:txBody>
          <a:bodyPr/>
          <a:lstStyle/>
          <a:p>
            <a:r>
              <a:rPr lang="en-US" dirty="0"/>
              <a:t>PES's MCOE Department of Electrical Engineering (AY : 2022-23)</a:t>
            </a:r>
          </a:p>
        </p:txBody>
      </p:sp>
      <p:sp>
        <p:nvSpPr>
          <p:cNvPr id="5" name="Slide Number Placeholder 4">
            <a:extLst>
              <a:ext uri="{FF2B5EF4-FFF2-40B4-BE49-F238E27FC236}">
                <a16:creationId xmlns:a16="http://schemas.microsoft.com/office/drawing/2014/main" id="{28397AA2-C924-7D59-1D7E-2E90C06072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dirty="0"/>
          </a:p>
        </p:txBody>
      </p:sp>
    </p:spTree>
    <p:extLst>
      <p:ext uri="{BB962C8B-B14F-4D97-AF65-F5344CB8AC3E}">
        <p14:creationId xmlns:p14="http://schemas.microsoft.com/office/powerpoint/2010/main" val="597493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16" descr="C:\Users\Dell\Desktop\6359749212265071701171552202_Dollarphotoclub_77959340-1024x577.jpg"/>
          <p:cNvPicPr preferRelativeResize="0"/>
          <p:nvPr/>
        </p:nvPicPr>
        <p:blipFill rotWithShape="1">
          <a:blip r:embed="rId3">
            <a:alphaModFix/>
          </a:blip>
          <a:srcRect/>
          <a:stretch/>
        </p:blipFill>
        <p:spPr>
          <a:xfrm>
            <a:off x="8738" y="0"/>
            <a:ext cx="9135262" cy="6858000"/>
          </a:xfrm>
          <a:prstGeom prst="rect">
            <a:avLst/>
          </a:prstGeom>
          <a:noFill/>
          <a:ln>
            <a:noFill/>
          </a:ln>
        </p:spPr>
      </p:pic>
      <p:sp>
        <p:nvSpPr>
          <p:cNvPr id="121" name="Google Shape;121;p16"/>
          <p:cNvSpPr txBox="1">
            <a:spLocks noGrp="1"/>
          </p:cNvSpPr>
          <p:nvPr>
            <p:ph type="ftr" idx="11"/>
          </p:nvPr>
        </p:nvSpPr>
        <p:spPr>
          <a:xfrm>
            <a:off x="53578" y="6589861"/>
            <a:ext cx="9036843" cy="268139"/>
          </a:xfrm>
          <a:prstGeom prst="rect">
            <a:avLst/>
          </a:prstGeom>
          <a:noFill/>
          <a:ln>
            <a:noFill/>
          </a:ln>
        </p:spPr>
        <p:txBody>
          <a:bodyPr spcFirstLastPara="1" wrap="square" lIns="0" tIns="0" rIns="0" bIns="0" anchor="b" anchorCtr="0">
            <a:noAutofit/>
          </a:bodyPr>
          <a:lstStyle/>
          <a:p>
            <a:pPr marL="0" lvl="0" indent="0" algn="ctr" rtl="0">
              <a:spcBef>
                <a:spcPts val="0"/>
              </a:spcBef>
              <a:spcAft>
                <a:spcPts val="0"/>
              </a:spcAft>
              <a:buNone/>
            </a:pPr>
            <a:r>
              <a:rPr lang="en-US" dirty="0">
                <a:solidFill>
                  <a:schemeClr val="bg2">
                    <a:lumMod val="75000"/>
                  </a:schemeClr>
                </a:solidFill>
                <a:latin typeface="Cambria"/>
                <a:ea typeface="Cambria"/>
                <a:cs typeface="Cambria"/>
                <a:sym typeface="Cambria"/>
              </a:rPr>
              <a:t>PES's MCOE Department of Electrical Engineering (AY : 2022-23)</a:t>
            </a:r>
            <a:endParaRPr lang="en-GB" b="1">
              <a:solidFill>
                <a:schemeClr val="bg2">
                  <a:lumMod val="75000"/>
                </a:schemeClr>
              </a:solidFill>
              <a:latin typeface="Cambria"/>
              <a:ea typeface="Cambria"/>
              <a:cs typeface="Cambria"/>
              <a:sym typeface="Cambria"/>
            </a:endParaRPr>
          </a:p>
        </p:txBody>
      </p:sp>
      <p:sp>
        <p:nvSpPr>
          <p:cNvPr id="2" name="Slide Number Placeholder 1">
            <a:extLst>
              <a:ext uri="{FF2B5EF4-FFF2-40B4-BE49-F238E27FC236}">
                <a16:creationId xmlns:a16="http://schemas.microsoft.com/office/drawing/2014/main" id="{DBD69CC1-2C5D-F134-F908-559146D514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dirty="0"/>
          </a:p>
        </p:txBody>
      </p:sp>
    </p:spTree>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1340</TotalTime>
  <Words>2161</Words>
  <Application>Microsoft Office PowerPoint</Application>
  <PresentationFormat>On-screen Show (4:3)</PresentationFormat>
  <Paragraphs>288</Paragraphs>
  <Slides>24</Slides>
  <Notes>6</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Flow</vt:lpstr>
      <vt:lpstr>PowerPoint Presentation</vt:lpstr>
      <vt:lpstr>Index</vt:lpstr>
      <vt:lpstr>Title </vt:lpstr>
      <vt:lpstr>Objectives of Project</vt:lpstr>
      <vt:lpstr>PowerPoint Presentation</vt:lpstr>
      <vt:lpstr>PowerPoint Presentation</vt:lpstr>
      <vt:lpstr>PowerPoint Presentation</vt:lpstr>
      <vt:lpstr>Methodology</vt:lpstr>
      <vt:lpstr>PowerPoint Presentation</vt:lpstr>
      <vt:lpstr>Schematic Diagram</vt:lpstr>
      <vt:lpstr>Work done  </vt:lpstr>
      <vt:lpstr>Important Data</vt:lpstr>
      <vt:lpstr>PowerPoint Presentation</vt:lpstr>
      <vt:lpstr>Solar and wind data</vt:lpstr>
      <vt:lpstr>PowerPoint Presentation</vt:lpstr>
      <vt:lpstr>PowerPoint Presentation</vt:lpstr>
      <vt:lpstr>PowerPoint Presentation</vt:lpstr>
      <vt:lpstr>PowerPoint Presentation</vt:lpstr>
      <vt:lpstr>PowerPoint Presentation</vt:lpstr>
      <vt:lpstr>PowerPoint Presentation</vt:lpstr>
      <vt:lpstr>Optimized Result from HOMER</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Varad Chavare</dc:creator>
  <cp:lastModifiedBy>varad chavare</cp:lastModifiedBy>
  <cp:revision>70</cp:revision>
  <dcterms:modified xsi:type="dcterms:W3CDTF">2023-06-01T17:22:38Z</dcterms:modified>
</cp:coreProperties>
</file>